
<file path=[Content_Types].xml><?xml version="1.0" encoding="utf-8"?>
<Types xmlns="http://schemas.openxmlformats.org/package/2006/content-types">
  <Default ContentType="image/jpeg" Extension="jpg"/>
  <Default ContentType="application/vnd.openxmlformats-officedocument.spreadsheetml.sheet" Extension="xlsx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drawingml.chart+xml" PartName="/ppt/charts/chart1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9" roundtripDataSignature="AMtx7mhT5Tbjh2d7qysJho8zOhnmS7o6q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D65D8CD-92B0-4D7A-B6FC-24D738DE7A7E}">
  <a:tblStyle styleId="{1D65D8CD-92B0-4D7A-B6FC-24D738DE7A7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customschemas.google.com/relationships/presentationmetadata" Target="metadata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charts/_rels/chart1.xml.rels><?xml version="1.0" encoding="UTF-8" standalone="yes"?>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E8F4F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E8F4F8"/>
                </a:solidFill>
                <a:latin typeface="Arial"/>
              </a:rPr>
              <a:t>Curva de potencia (2 MW)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Potencia (%)</c:v>
                </c:pt>
              </c:strCache>
            </c:strRef>
          </c:tx>
          <c:spPr>
            <a:solidFill>
              <a:srgbClr val="0A7EA4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C8FF"/>
                    </a:solidFill>
                    <a:latin typeface="Arial"/>
                  </a:defRPr>
                </a:pPr>
                <a:endParaRPr lang="es-E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0-3
m/s</c:v>
                </c:pt>
                <c:pt idx="1">
                  <c:v>6
m/s</c:v>
                </c:pt>
                <c:pt idx="2">
                  <c:v>9
m/s</c:v>
                </c:pt>
                <c:pt idx="3">
                  <c:v>12
m/s</c:v>
                </c:pt>
                <c:pt idx="4">
                  <c:v>15
m/s</c:v>
                </c:pt>
                <c:pt idx="5">
                  <c:v>25+
m/s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15</c:v>
                </c:pt>
                <c:pt idx="2">
                  <c:v>42</c:v>
                </c:pt>
                <c:pt idx="3">
                  <c:v>100</c:v>
                </c:pt>
                <c:pt idx="4">
                  <c:v>100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DC1-4C2C-9BAE-AFE7ADFA6B8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BAFC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1C3A5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BAFC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04101E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857400" y="685800"/>
            <a:ext cx="34291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g3d2615fdc14_0_24:notes"/>
          <p:cNvSpPr/>
          <p:nvPr>
            <p:ph idx="2" type="sldImg"/>
          </p:nvPr>
        </p:nvSpPr>
        <p:spPr>
          <a:xfrm>
            <a:off x="857400" y="685800"/>
            <a:ext cx="3429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" name="Google Shape;10;g3d2615fdc14_0_24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g39683255e89_0_1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" name="Google Shape;16;g39683255e89_0_12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g39683255e89_0_12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7" name="Google Shape;67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8" name="Google Shape;88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9" name="Google Shape;129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3" name="Google Shape;183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Cada 60 segundos, esta tarea agrupa las lecturas por turbina, calcula las medias y las inserta en una tabla de agregados minutales.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7" name="Google Shape;237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048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-"/>
            </a:pPr>
            <a:r>
              <a:rPr lang="en-US" sz="1200">
                <a:solidFill>
                  <a:schemeClr val="dk1"/>
                </a:solidFill>
              </a:rPr>
              <a:t>Este gráfico demuestra cómo se realiza el cálculo de la potencia generado en función del viento,  respetando los límites de arranque (cut-in) y frenado de emergencia (cut-out)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1" name="Google Shape;26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3" name="Google Shape;293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g39683255e89_0_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9" name="Google Shape;319;g39683255e89_0_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g39683255e89_0_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g39683255e89_0_4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4" name="Google Shape;344;g39683255e89_0_4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g39683255e89_0_4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g39683255e89_0_7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9" name="Google Shape;369;g39683255e89_0_7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0" name="Google Shape;370;g39683255e89_0_7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2" name="Google Shape;392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1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ejorar esta diapositiva" id="12" name="Google Shape;12;g3d2615fdc14_0_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g3d2615fdc14_0_24"/>
          <p:cNvSpPr/>
          <p:nvPr/>
        </p:nvSpPr>
        <p:spPr>
          <a:xfrm>
            <a:off x="248248" y="4223625"/>
            <a:ext cx="2844900" cy="457200"/>
          </a:xfrm>
          <a:prstGeom prst="rect">
            <a:avLst/>
          </a:prstGeom>
          <a:solidFill>
            <a:srgbClr val="04102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1200"/>
              <a:buFont typeface="Calibri"/>
              <a:buNone/>
            </a:pPr>
            <a:r>
              <a:rPr i="1" lang="en-US" sz="12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Juan Mari Díaz, Unai Pinilla e Imanol Lama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4101E"/>
        </a:soli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g39683255e89_0_128"/>
          <p:cNvSpPr/>
          <p:nvPr/>
        </p:nvSpPr>
        <p:spPr>
          <a:xfrm>
            <a:off x="0" y="0"/>
            <a:ext cx="54900" cy="5143500"/>
          </a:xfrm>
          <a:prstGeom prst="rect">
            <a:avLst/>
          </a:prstGeom>
          <a:solidFill>
            <a:srgbClr val="0A7EA4"/>
          </a:solidFill>
          <a:ln cap="flat" cmpd="sng" w="12700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g39683255e89_0_128"/>
          <p:cNvSpPr/>
          <p:nvPr/>
        </p:nvSpPr>
        <p:spPr>
          <a:xfrm>
            <a:off x="2009145" y="256150"/>
            <a:ext cx="45339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Contenido de la presentación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g39683255e89_0_128"/>
          <p:cNvSpPr/>
          <p:nvPr/>
        </p:nvSpPr>
        <p:spPr>
          <a:xfrm>
            <a:off x="463550" y="1013765"/>
            <a:ext cx="502800" cy="502800"/>
          </a:xfrm>
          <a:prstGeom prst="rect">
            <a:avLst/>
          </a:prstGeom>
          <a:solidFill>
            <a:srgbClr val="0A7EA4"/>
          </a:solidFill>
          <a:ln cap="flat" cmpd="sng" w="9525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" name="Google Shape;22;g39683255e89_0_128"/>
          <p:cNvSpPr/>
          <p:nvPr/>
        </p:nvSpPr>
        <p:spPr>
          <a:xfrm>
            <a:off x="463550" y="1013765"/>
            <a:ext cx="5028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g39683255e89_0_128"/>
          <p:cNvSpPr/>
          <p:nvPr/>
        </p:nvSpPr>
        <p:spPr>
          <a:xfrm>
            <a:off x="1057910" y="1013765"/>
            <a:ext cx="3657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Descripción del reto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g39683255e89_0_128"/>
          <p:cNvSpPr/>
          <p:nvPr/>
        </p:nvSpPr>
        <p:spPr>
          <a:xfrm>
            <a:off x="1057910" y="1269797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Objetivos y requisitos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g39683255e89_0_128"/>
          <p:cNvSpPr/>
          <p:nvPr/>
        </p:nvSpPr>
        <p:spPr>
          <a:xfrm>
            <a:off x="464700" y="1699390"/>
            <a:ext cx="502800" cy="502800"/>
          </a:xfrm>
          <a:prstGeom prst="rect">
            <a:avLst/>
          </a:prstGeom>
          <a:solidFill>
            <a:srgbClr val="0A7EA4"/>
          </a:solidFill>
          <a:ln cap="flat" cmpd="sng" w="9525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g39683255e89_0_128"/>
          <p:cNvSpPr/>
          <p:nvPr/>
        </p:nvSpPr>
        <p:spPr>
          <a:xfrm>
            <a:off x="464700" y="1699390"/>
            <a:ext cx="5028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g39683255e89_0_128"/>
          <p:cNvSpPr/>
          <p:nvPr/>
        </p:nvSpPr>
        <p:spPr>
          <a:xfrm>
            <a:off x="1059060" y="1699390"/>
            <a:ext cx="3657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Arquitectura del sistema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g39683255e89_0_128"/>
          <p:cNvSpPr/>
          <p:nvPr/>
        </p:nvSpPr>
        <p:spPr>
          <a:xfrm>
            <a:off x="1059060" y="1955422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10 turbinas + concentrador + panel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g39683255e89_0_128"/>
          <p:cNvSpPr/>
          <p:nvPr/>
        </p:nvSpPr>
        <p:spPr>
          <a:xfrm>
            <a:off x="467000" y="2403365"/>
            <a:ext cx="502800" cy="502800"/>
          </a:xfrm>
          <a:prstGeom prst="rect">
            <a:avLst/>
          </a:prstGeom>
          <a:solidFill>
            <a:srgbClr val="0A7EA4"/>
          </a:solidFill>
          <a:ln cap="flat" cmpd="sng" w="9525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g39683255e89_0_128"/>
          <p:cNvSpPr/>
          <p:nvPr/>
        </p:nvSpPr>
        <p:spPr>
          <a:xfrm>
            <a:off x="467000" y="2403365"/>
            <a:ext cx="5028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g39683255e89_0_128"/>
          <p:cNvSpPr/>
          <p:nvPr/>
        </p:nvSpPr>
        <p:spPr>
          <a:xfrm>
            <a:off x="1061360" y="2403365"/>
            <a:ext cx="3657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Modelo de datos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g39683255e89_0_128"/>
          <p:cNvSpPr/>
          <p:nvPr/>
        </p:nvSpPr>
        <p:spPr>
          <a:xfrm>
            <a:off x="1061360" y="2659397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6 dimensiones de calidad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g39683255e89_0_128"/>
          <p:cNvSpPr/>
          <p:nvPr/>
        </p:nvSpPr>
        <p:spPr>
          <a:xfrm>
            <a:off x="471600" y="3107340"/>
            <a:ext cx="502800" cy="502800"/>
          </a:xfrm>
          <a:prstGeom prst="rect">
            <a:avLst/>
          </a:prstGeom>
          <a:solidFill>
            <a:srgbClr val="0A7EA4"/>
          </a:solidFill>
          <a:ln cap="flat" cmpd="sng" w="9525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g39683255e89_0_128"/>
          <p:cNvSpPr/>
          <p:nvPr/>
        </p:nvSpPr>
        <p:spPr>
          <a:xfrm>
            <a:off x="471600" y="3107340"/>
            <a:ext cx="5028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g39683255e89_0_128"/>
          <p:cNvSpPr/>
          <p:nvPr/>
        </p:nvSpPr>
        <p:spPr>
          <a:xfrm>
            <a:off x="1065960" y="3107340"/>
            <a:ext cx="3657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Concentrador FastAPI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g39683255e89_0_128"/>
          <p:cNvSpPr/>
          <p:nvPr/>
        </p:nvSpPr>
        <p:spPr>
          <a:xfrm>
            <a:off x="1065960" y="3363372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Validación, persistencia y agregaciones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g39683255e89_0_128"/>
          <p:cNvSpPr/>
          <p:nvPr/>
        </p:nvSpPr>
        <p:spPr>
          <a:xfrm>
            <a:off x="471590" y="3811315"/>
            <a:ext cx="502800" cy="502800"/>
          </a:xfrm>
          <a:prstGeom prst="rect">
            <a:avLst/>
          </a:prstGeom>
          <a:solidFill>
            <a:srgbClr val="0A7EA4"/>
          </a:solidFill>
          <a:ln cap="flat" cmpd="sng" w="9525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g39683255e89_0_128"/>
          <p:cNvSpPr/>
          <p:nvPr/>
        </p:nvSpPr>
        <p:spPr>
          <a:xfrm>
            <a:off x="471590" y="3811315"/>
            <a:ext cx="5028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g39683255e89_0_128"/>
          <p:cNvSpPr/>
          <p:nvPr/>
        </p:nvSpPr>
        <p:spPr>
          <a:xfrm>
            <a:off x="1065950" y="3811315"/>
            <a:ext cx="3657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Generadores individuales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g39683255e89_0_128"/>
          <p:cNvSpPr/>
          <p:nvPr/>
        </p:nvSpPr>
        <p:spPr>
          <a:xfrm>
            <a:off x="1065950" y="4067347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Datos sintéticos y curva de potencia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g39683255e89_0_128"/>
          <p:cNvSpPr/>
          <p:nvPr/>
        </p:nvSpPr>
        <p:spPr>
          <a:xfrm>
            <a:off x="4428490" y="1013765"/>
            <a:ext cx="502800" cy="502800"/>
          </a:xfrm>
          <a:prstGeom prst="rect">
            <a:avLst/>
          </a:prstGeom>
          <a:solidFill>
            <a:srgbClr val="0A7EA4"/>
          </a:solidFill>
          <a:ln cap="flat" cmpd="sng" w="9525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g39683255e89_0_128"/>
          <p:cNvSpPr/>
          <p:nvPr/>
        </p:nvSpPr>
        <p:spPr>
          <a:xfrm>
            <a:off x="4428490" y="1013765"/>
            <a:ext cx="5028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g39683255e89_0_128"/>
          <p:cNvSpPr/>
          <p:nvPr/>
        </p:nvSpPr>
        <p:spPr>
          <a:xfrm>
            <a:off x="5022850" y="1013765"/>
            <a:ext cx="3657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Panel web en tiempo real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g39683255e89_0_128"/>
          <p:cNvSpPr/>
          <p:nvPr/>
        </p:nvSpPr>
        <p:spPr>
          <a:xfrm>
            <a:off x="5022850" y="1269797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Nginx + HTML/JS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g39683255e89_0_128"/>
          <p:cNvSpPr/>
          <p:nvPr/>
        </p:nvSpPr>
        <p:spPr>
          <a:xfrm>
            <a:off x="4428490" y="1708565"/>
            <a:ext cx="502800" cy="502800"/>
          </a:xfrm>
          <a:prstGeom prst="rect">
            <a:avLst/>
          </a:prstGeom>
          <a:solidFill>
            <a:srgbClr val="0A7EA4"/>
          </a:solidFill>
          <a:ln cap="flat" cmpd="sng" w="9525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g39683255e89_0_128"/>
          <p:cNvSpPr/>
          <p:nvPr/>
        </p:nvSpPr>
        <p:spPr>
          <a:xfrm>
            <a:off x="4428490" y="1708565"/>
            <a:ext cx="5028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07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g39683255e89_0_128"/>
          <p:cNvSpPr/>
          <p:nvPr/>
        </p:nvSpPr>
        <p:spPr>
          <a:xfrm>
            <a:off x="5022850" y="1708565"/>
            <a:ext cx="3657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Seguridad y persistencia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g39683255e89_0_128"/>
          <p:cNvSpPr/>
          <p:nvPr/>
        </p:nvSpPr>
        <p:spPr>
          <a:xfrm>
            <a:off x="5022850" y="1964597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API Key + PostgreSQL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g39683255e89_0_128"/>
          <p:cNvSpPr/>
          <p:nvPr/>
        </p:nvSpPr>
        <p:spPr>
          <a:xfrm>
            <a:off x="4428490" y="2389953"/>
            <a:ext cx="502800" cy="502800"/>
          </a:xfrm>
          <a:prstGeom prst="rect">
            <a:avLst/>
          </a:prstGeom>
          <a:solidFill>
            <a:srgbClr val="0A7EA4"/>
          </a:solidFill>
          <a:ln cap="flat" cmpd="sng" w="9525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g39683255e89_0_128"/>
          <p:cNvSpPr/>
          <p:nvPr/>
        </p:nvSpPr>
        <p:spPr>
          <a:xfrm>
            <a:off x="4428490" y="2389953"/>
            <a:ext cx="5028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08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g39683255e89_0_128"/>
          <p:cNvSpPr/>
          <p:nvPr/>
        </p:nvSpPr>
        <p:spPr>
          <a:xfrm>
            <a:off x="5022850" y="2389953"/>
            <a:ext cx="3657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Posibles Vías de Mejora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g39683255e89_0_128"/>
          <p:cNvSpPr/>
          <p:nvPr/>
        </p:nvSpPr>
        <p:spPr>
          <a:xfrm>
            <a:off x="5022850" y="2645985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Posibles mejoras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g39683255e89_0_128"/>
          <p:cNvSpPr/>
          <p:nvPr/>
        </p:nvSpPr>
        <p:spPr>
          <a:xfrm>
            <a:off x="4428490" y="3071328"/>
            <a:ext cx="502800" cy="502800"/>
          </a:xfrm>
          <a:prstGeom prst="rect">
            <a:avLst/>
          </a:prstGeom>
          <a:solidFill>
            <a:srgbClr val="0A7EA4"/>
          </a:solidFill>
          <a:ln cap="flat" cmpd="sng" w="9525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g39683255e89_0_128"/>
          <p:cNvSpPr/>
          <p:nvPr/>
        </p:nvSpPr>
        <p:spPr>
          <a:xfrm>
            <a:off x="4428490" y="3071328"/>
            <a:ext cx="5028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b="1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g39683255e89_0_128"/>
          <p:cNvSpPr/>
          <p:nvPr/>
        </p:nvSpPr>
        <p:spPr>
          <a:xfrm>
            <a:off x="5022850" y="3071328"/>
            <a:ext cx="3657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Problemas y Retos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g39683255e89_0_128"/>
          <p:cNvSpPr/>
          <p:nvPr/>
        </p:nvSpPr>
        <p:spPr>
          <a:xfrm>
            <a:off x="5022850" y="3327360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Problemas y Retos </a:t>
            </a:r>
            <a:r>
              <a:rPr lang="en-US" sz="10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encontrados</a:t>
            </a:r>
            <a:r>
              <a:rPr lang="en-US" sz="10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 durante la realización.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g39683255e89_0_128"/>
          <p:cNvSpPr/>
          <p:nvPr/>
        </p:nvSpPr>
        <p:spPr>
          <a:xfrm>
            <a:off x="4428490" y="3725303"/>
            <a:ext cx="502800" cy="502800"/>
          </a:xfrm>
          <a:prstGeom prst="rect">
            <a:avLst/>
          </a:prstGeom>
          <a:solidFill>
            <a:srgbClr val="0A7EA4"/>
          </a:solidFill>
          <a:ln cap="flat" cmpd="sng" w="9525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g39683255e89_0_128"/>
          <p:cNvSpPr/>
          <p:nvPr/>
        </p:nvSpPr>
        <p:spPr>
          <a:xfrm>
            <a:off x="4428490" y="3725303"/>
            <a:ext cx="5028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g39683255e89_0_128"/>
          <p:cNvSpPr/>
          <p:nvPr/>
        </p:nvSpPr>
        <p:spPr>
          <a:xfrm>
            <a:off x="5022850" y="3725303"/>
            <a:ext cx="3657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Alternativas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g39683255e89_0_128"/>
          <p:cNvSpPr/>
          <p:nvPr/>
        </p:nvSpPr>
        <p:spPr>
          <a:xfrm>
            <a:off x="5022850" y="3981335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Posibles alternativas del proyecto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g39683255e89_0_128"/>
          <p:cNvSpPr/>
          <p:nvPr/>
        </p:nvSpPr>
        <p:spPr>
          <a:xfrm>
            <a:off x="4428490" y="4434078"/>
            <a:ext cx="502800" cy="502800"/>
          </a:xfrm>
          <a:prstGeom prst="rect">
            <a:avLst/>
          </a:prstGeom>
          <a:solidFill>
            <a:srgbClr val="0A7EA4"/>
          </a:solidFill>
          <a:ln cap="flat" cmpd="sng" w="9525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g39683255e89_0_128"/>
          <p:cNvSpPr/>
          <p:nvPr/>
        </p:nvSpPr>
        <p:spPr>
          <a:xfrm>
            <a:off x="4428490" y="4434078"/>
            <a:ext cx="5028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g39683255e89_0_128"/>
          <p:cNvSpPr/>
          <p:nvPr/>
        </p:nvSpPr>
        <p:spPr>
          <a:xfrm>
            <a:off x="5022850" y="4434078"/>
            <a:ext cx="3657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Demo en vivo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g39683255e89_0_128"/>
          <p:cNvSpPr/>
          <p:nvPr/>
        </p:nvSpPr>
        <p:spPr>
          <a:xfrm>
            <a:off x="5022850" y="4690110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docker compose up --build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4101E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A7EA4"/>
          </a:solidFill>
          <a:ln cap="flat" cmpd="sng" w="12700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320040" y="256032"/>
            <a:ext cx="8503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b="1" lang="en-US" sz="2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 · Descripción del reto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228600" y="960120"/>
            <a:ext cx="2788920" cy="3474720"/>
          </a:xfrm>
          <a:prstGeom prst="rect">
            <a:avLst/>
          </a:prstGeom>
          <a:solidFill>
            <a:srgbClr val="05294A"/>
          </a:solidFill>
          <a:ln cap="flat" cmpd="sng" w="9525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73" name="Google Shape;7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1480" y="1097280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3"/>
          <p:cNvSpPr/>
          <p:nvPr/>
        </p:nvSpPr>
        <p:spPr>
          <a:xfrm>
            <a:off x="365760" y="1691640"/>
            <a:ext cx="2514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Modelo de datos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365760" y="2103120"/>
            <a:ext cx="2514600" cy="2194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Parque eólico con 10 generadores y un concentrador. Probabilidad N de datos erróneos por generador.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3172968" y="960120"/>
            <a:ext cx="2788920" cy="3474720"/>
          </a:xfrm>
          <a:prstGeom prst="rect">
            <a:avLst/>
          </a:prstGeom>
          <a:solidFill>
            <a:srgbClr val="05294A"/>
          </a:solidFill>
          <a:ln cap="flat" cmpd="sng" w="9525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77" name="Google Shape;77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355848" y="1097280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3"/>
          <p:cNvSpPr/>
          <p:nvPr/>
        </p:nvSpPr>
        <p:spPr>
          <a:xfrm>
            <a:off x="3310128" y="1691640"/>
            <a:ext cx="2514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Concentrador FastAPI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3"/>
          <p:cNvSpPr/>
          <p:nvPr/>
        </p:nvSpPr>
        <p:spPr>
          <a:xfrm>
            <a:off x="3310128" y="2103120"/>
            <a:ext cx="2514600" cy="2194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Valida los datos recibidos. Realiza agregaciones: media de producción del parque y agregados minutales.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3"/>
          <p:cNvSpPr/>
          <p:nvPr/>
        </p:nvSpPr>
        <p:spPr>
          <a:xfrm>
            <a:off x="6117336" y="960120"/>
            <a:ext cx="2788920" cy="3474720"/>
          </a:xfrm>
          <a:prstGeom prst="rect">
            <a:avLst/>
          </a:prstGeom>
          <a:solidFill>
            <a:srgbClr val="05294A"/>
          </a:solidFill>
          <a:ln cap="flat" cmpd="sng" w="9525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81" name="Google Shape;81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00216" y="1097280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3"/>
          <p:cNvSpPr/>
          <p:nvPr/>
        </p:nvSpPr>
        <p:spPr>
          <a:xfrm>
            <a:off x="6254496" y="1691640"/>
            <a:ext cx="2514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Generadores individuales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3"/>
          <p:cNvSpPr/>
          <p:nvPr/>
        </p:nvSpPr>
        <p:spPr>
          <a:xfrm>
            <a:off x="6254496" y="2103120"/>
            <a:ext cx="2514600" cy="2194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Programas independientes que generan datos sintéticos distintos. Extras: seguridad + persistencia.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3"/>
          <p:cNvSpPr/>
          <p:nvPr/>
        </p:nvSpPr>
        <p:spPr>
          <a:xfrm>
            <a:off x="228600" y="4572000"/>
            <a:ext cx="8686800" cy="384048"/>
          </a:xfrm>
          <a:prstGeom prst="rect">
            <a:avLst/>
          </a:prstGeom>
          <a:solidFill>
            <a:srgbClr val="0A7EA4">
              <a:alpha val="30196"/>
            </a:srgbClr>
          </a:solidFill>
          <a:ln cap="flat" cmpd="sng" w="9525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3"/>
          <p:cNvSpPr/>
          <p:nvPr/>
        </p:nvSpPr>
        <p:spPr>
          <a:xfrm>
            <a:off x="365760" y="4572000"/>
            <a:ext cx="84124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✓  Extras implementados:  Seguridad con API Key  ·  Persistencia con PostgreSQL  ·  Panel web en tiempo real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4101E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4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A7EA4"/>
          </a:solidFill>
          <a:ln cap="flat" cmpd="sng" w="12700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4"/>
          <p:cNvSpPr/>
          <p:nvPr/>
        </p:nvSpPr>
        <p:spPr>
          <a:xfrm>
            <a:off x="320040" y="256032"/>
            <a:ext cx="8503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b="1" lang="en-US" sz="2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 · Arquitectura del sistema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4"/>
          <p:cNvSpPr/>
          <p:nvPr/>
        </p:nvSpPr>
        <p:spPr>
          <a:xfrm>
            <a:off x="182880" y="914400"/>
            <a:ext cx="2011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10 TURBINAS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4"/>
          <p:cNvSpPr/>
          <p:nvPr/>
        </p:nvSpPr>
        <p:spPr>
          <a:xfrm>
            <a:off x="182880" y="1298448"/>
            <a:ext cx="2011680" cy="502920"/>
          </a:xfrm>
          <a:prstGeom prst="rect">
            <a:avLst/>
          </a:prstGeom>
          <a:solidFill>
            <a:srgbClr val="05294A"/>
          </a:solidFill>
          <a:ln cap="flat" cmpd="sng" w="12700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4"/>
          <p:cNvSpPr/>
          <p:nvPr/>
        </p:nvSpPr>
        <p:spPr>
          <a:xfrm>
            <a:off x="228600" y="1371600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turbina_01  ·  2000 kW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4"/>
          <p:cNvSpPr/>
          <p:nvPr/>
        </p:nvSpPr>
        <p:spPr>
          <a:xfrm>
            <a:off x="182880" y="1938528"/>
            <a:ext cx="2011680" cy="502920"/>
          </a:xfrm>
          <a:prstGeom prst="rect">
            <a:avLst/>
          </a:prstGeom>
          <a:solidFill>
            <a:srgbClr val="05294A"/>
          </a:solidFill>
          <a:ln cap="flat" cmpd="sng" w="12700">
            <a:solidFill>
              <a:srgbClr val="12A0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4"/>
          <p:cNvSpPr/>
          <p:nvPr/>
        </p:nvSpPr>
        <p:spPr>
          <a:xfrm>
            <a:off x="228600" y="2011680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turbina_02  ·  2500 kW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4"/>
          <p:cNvSpPr/>
          <p:nvPr/>
        </p:nvSpPr>
        <p:spPr>
          <a:xfrm>
            <a:off x="182880" y="2578608"/>
            <a:ext cx="2011680" cy="502920"/>
          </a:xfrm>
          <a:prstGeom prst="rect">
            <a:avLst/>
          </a:prstGeom>
          <a:solidFill>
            <a:srgbClr val="05294A"/>
          </a:solidFill>
          <a:ln cap="flat" cmpd="sng" w="12700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4"/>
          <p:cNvSpPr/>
          <p:nvPr/>
        </p:nvSpPr>
        <p:spPr>
          <a:xfrm>
            <a:off x="228600" y="2651760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turbina_03  ·  1800 kW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4"/>
          <p:cNvSpPr/>
          <p:nvPr/>
        </p:nvSpPr>
        <p:spPr>
          <a:xfrm>
            <a:off x="182880" y="3218688"/>
            <a:ext cx="2011680" cy="502920"/>
          </a:xfrm>
          <a:prstGeom prst="rect">
            <a:avLst/>
          </a:prstGeom>
          <a:solidFill>
            <a:srgbClr val="05294A"/>
          </a:solidFill>
          <a:ln cap="flat" cmpd="sng" w="12700">
            <a:solidFill>
              <a:srgbClr val="12A0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4"/>
          <p:cNvSpPr/>
          <p:nvPr/>
        </p:nvSpPr>
        <p:spPr>
          <a:xfrm>
            <a:off x="228600" y="3291840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turbina_04  ·  2200 kW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4"/>
          <p:cNvSpPr/>
          <p:nvPr/>
        </p:nvSpPr>
        <p:spPr>
          <a:xfrm>
            <a:off x="182880" y="3858768"/>
            <a:ext cx="2011680" cy="502920"/>
          </a:xfrm>
          <a:prstGeom prst="rect">
            <a:avLst/>
          </a:prstGeom>
          <a:solidFill>
            <a:srgbClr val="05294A"/>
          </a:solidFill>
          <a:ln cap="flat" cmpd="sng" w="12700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4"/>
          <p:cNvSpPr/>
          <p:nvPr/>
        </p:nvSpPr>
        <p:spPr>
          <a:xfrm>
            <a:off x="228600" y="3931920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turbina_05  ·  3000 kW  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4"/>
          <p:cNvSpPr/>
          <p:nvPr/>
        </p:nvSpPr>
        <p:spPr>
          <a:xfrm>
            <a:off x="137180" y="4375406"/>
            <a:ext cx="2011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850"/>
              <a:buFont typeface="Calibri"/>
              <a:buNone/>
            </a:pPr>
            <a:r>
              <a:rPr lang="en-US" sz="85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... turbina_06 → turbina_10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4"/>
          <p:cNvSpPr/>
          <p:nvPr/>
        </p:nvSpPr>
        <p:spPr>
          <a:xfrm>
            <a:off x="2286000" y="2286000"/>
            <a:ext cx="1371600" cy="36576"/>
          </a:xfrm>
          <a:prstGeom prst="rect">
            <a:avLst/>
          </a:prstGeom>
          <a:solidFill>
            <a:srgbClr val="00C8FF"/>
          </a:solidFill>
          <a:ln cap="flat" cmpd="sng" w="12700">
            <a:solidFill>
              <a:srgbClr val="00C8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4"/>
          <p:cNvSpPr/>
          <p:nvPr/>
        </p:nvSpPr>
        <p:spPr>
          <a:xfrm>
            <a:off x="2240280" y="233172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POST /datos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+ API Key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4"/>
          <p:cNvSpPr/>
          <p:nvPr/>
        </p:nvSpPr>
        <p:spPr>
          <a:xfrm>
            <a:off x="3749040" y="960120"/>
            <a:ext cx="2834640" cy="3566160"/>
          </a:xfrm>
          <a:prstGeom prst="rect">
            <a:avLst/>
          </a:prstGeom>
          <a:solidFill>
            <a:srgbClr val="071A2E"/>
          </a:solidFill>
          <a:ln cap="flat" cmpd="sng" w="9525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4"/>
          <p:cNvSpPr/>
          <p:nvPr/>
        </p:nvSpPr>
        <p:spPr>
          <a:xfrm>
            <a:off x="3749040" y="960120"/>
            <a:ext cx="2834640" cy="320040"/>
          </a:xfrm>
          <a:prstGeom prst="rect">
            <a:avLst/>
          </a:prstGeom>
          <a:solidFill>
            <a:srgbClr val="0A7EA4"/>
          </a:solidFill>
          <a:ln cap="flat" cmpd="sng" w="12700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4"/>
          <p:cNvSpPr/>
          <p:nvPr/>
        </p:nvSpPr>
        <p:spPr>
          <a:xfrm>
            <a:off x="3749040" y="960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CONCENTRADOR FastAPI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4"/>
          <p:cNvSpPr/>
          <p:nvPr/>
        </p:nvSpPr>
        <p:spPr>
          <a:xfrm>
            <a:off x="3886200" y="1371600"/>
            <a:ext cx="25603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🔑  Verifica API Key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4"/>
          <p:cNvSpPr/>
          <p:nvPr/>
        </p:nvSpPr>
        <p:spPr>
          <a:xfrm>
            <a:off x="3886200" y="1828800"/>
            <a:ext cx="25603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✅  Valida con Pydantic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4"/>
          <p:cNvSpPr/>
          <p:nvPr/>
        </p:nvSpPr>
        <p:spPr>
          <a:xfrm>
            <a:off x="3886200" y="2286000"/>
            <a:ext cx="25603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     6 dimensiones calidad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4"/>
          <p:cNvSpPr/>
          <p:nvPr/>
        </p:nvSpPr>
        <p:spPr>
          <a:xfrm>
            <a:off x="3886200" y="2743200"/>
            <a:ext cx="25603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💾  Guarda en PostgreSQL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4"/>
          <p:cNvSpPr/>
          <p:nvPr/>
        </p:nvSpPr>
        <p:spPr>
          <a:xfrm>
            <a:off x="3886200" y="3200400"/>
            <a:ext cx="25603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📊  Agrega minutalmente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4"/>
          <p:cNvSpPr/>
          <p:nvPr/>
        </p:nvSpPr>
        <p:spPr>
          <a:xfrm>
            <a:off x="3886200" y="3657600"/>
            <a:ext cx="25603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📡  Expone endpoints REST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4"/>
          <p:cNvSpPr/>
          <p:nvPr/>
        </p:nvSpPr>
        <p:spPr>
          <a:xfrm>
            <a:off x="6675120" y="2286000"/>
            <a:ext cx="822960" cy="36576"/>
          </a:xfrm>
          <a:prstGeom prst="rect">
            <a:avLst/>
          </a:prstGeom>
          <a:solidFill>
            <a:srgbClr val="00D68F"/>
          </a:solidFill>
          <a:ln cap="flat" cmpd="sng" w="12700">
            <a:solidFill>
              <a:srgbClr val="00D6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4"/>
          <p:cNvSpPr/>
          <p:nvPr/>
        </p:nvSpPr>
        <p:spPr>
          <a:xfrm>
            <a:off x="7543800" y="1645920"/>
            <a:ext cx="1417320" cy="1371600"/>
          </a:xfrm>
          <a:prstGeom prst="rect">
            <a:avLst/>
          </a:prstGeom>
          <a:solidFill>
            <a:srgbClr val="05294A"/>
          </a:solidFill>
          <a:ln cap="flat" cmpd="sng" w="9525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18" name="Google Shape;118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82128" y="1737360"/>
            <a:ext cx="411480" cy="41148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4"/>
          <p:cNvSpPr/>
          <p:nvPr/>
        </p:nvSpPr>
        <p:spPr>
          <a:xfrm>
            <a:off x="7543800" y="2194560"/>
            <a:ext cx="1417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68F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00D68F"/>
                </a:solidFill>
                <a:latin typeface="Calibri"/>
                <a:ea typeface="Calibri"/>
                <a:cs typeface="Calibri"/>
                <a:sym typeface="Calibri"/>
              </a:rPr>
              <a:t>PostgreSQL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4"/>
          <p:cNvSpPr/>
          <p:nvPr/>
        </p:nvSpPr>
        <p:spPr>
          <a:xfrm>
            <a:off x="7543800" y="2487168"/>
            <a:ext cx="14173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lecturas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rechazados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agregados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4"/>
          <p:cNvSpPr/>
          <p:nvPr/>
        </p:nvSpPr>
        <p:spPr>
          <a:xfrm>
            <a:off x="6675120" y="3383280"/>
            <a:ext cx="822960" cy="36576"/>
          </a:xfrm>
          <a:prstGeom prst="rect">
            <a:avLst/>
          </a:prstGeom>
          <a:solidFill>
            <a:srgbClr val="FFD740"/>
          </a:solidFill>
          <a:ln cap="flat" cmpd="sng" w="12700">
            <a:solidFill>
              <a:srgbClr val="FFD7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4"/>
          <p:cNvSpPr/>
          <p:nvPr/>
        </p:nvSpPr>
        <p:spPr>
          <a:xfrm>
            <a:off x="7543800" y="3108960"/>
            <a:ext cx="1417320" cy="1005840"/>
          </a:xfrm>
          <a:prstGeom prst="rect">
            <a:avLst/>
          </a:prstGeom>
          <a:solidFill>
            <a:srgbClr val="05294A"/>
          </a:solidFill>
          <a:ln cap="flat" cmpd="sng" w="9525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4"/>
          <p:cNvSpPr/>
          <p:nvPr/>
        </p:nvSpPr>
        <p:spPr>
          <a:xfrm>
            <a:off x="7543800" y="3200400"/>
            <a:ext cx="1417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D740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FFD740"/>
                </a:solidFill>
                <a:latin typeface="Calibri"/>
                <a:ea typeface="Calibri"/>
                <a:cs typeface="Calibri"/>
                <a:sym typeface="Calibri"/>
              </a:rPr>
              <a:t>Panel Web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4"/>
          <p:cNvSpPr/>
          <p:nvPr/>
        </p:nvSpPr>
        <p:spPr>
          <a:xfrm>
            <a:off x="7543800" y="3474720"/>
            <a:ext cx="14173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nginx + HTML/JS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polling 2s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182880" y="4663440"/>
            <a:ext cx="8778240" cy="320040"/>
          </a:xfrm>
          <a:prstGeom prst="rect">
            <a:avLst/>
          </a:prstGeom>
          <a:solidFill>
            <a:srgbClr val="0A7EA4">
              <a:alpha val="20000"/>
            </a:srgbClr>
          </a:solidFill>
          <a:ln cap="flat" cmpd="sng" w="9525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4"/>
          <p:cNvSpPr/>
          <p:nvPr/>
        </p:nvSpPr>
        <p:spPr>
          <a:xfrm>
            <a:off x="320040" y="4663440"/>
            <a:ext cx="8503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14 contenedores Docker  ·  10 turbinas + concentrador + base_datos + panel_web + nginx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4101E"/>
        </a:solid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5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A7EA4"/>
          </a:solidFill>
          <a:ln cap="flat" cmpd="sng" w="12700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5"/>
          <p:cNvSpPr/>
          <p:nvPr/>
        </p:nvSpPr>
        <p:spPr>
          <a:xfrm>
            <a:off x="320040" y="256032"/>
            <a:ext cx="8503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b="1" lang="en-US" sz="2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 · Modelo de datos · modelo.py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5"/>
          <p:cNvSpPr/>
          <p:nvPr/>
        </p:nvSpPr>
        <p:spPr>
          <a:xfrm>
            <a:off x="182880" y="868680"/>
            <a:ext cx="3931920" cy="3200400"/>
          </a:xfrm>
          <a:prstGeom prst="rect">
            <a:avLst/>
          </a:prstGeom>
          <a:solidFill>
            <a:srgbClr val="071A2E"/>
          </a:solidFill>
          <a:ln cap="flat" cmpd="sng" w="9525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5"/>
          <p:cNvSpPr/>
          <p:nvPr/>
        </p:nvSpPr>
        <p:spPr>
          <a:xfrm>
            <a:off x="182880" y="868680"/>
            <a:ext cx="3931920" cy="347472"/>
          </a:xfrm>
          <a:prstGeom prst="rect">
            <a:avLst/>
          </a:prstGeom>
          <a:solidFill>
            <a:srgbClr val="0A7EA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Campos de DatosTurbina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5"/>
          <p:cNvSpPr/>
          <p:nvPr/>
        </p:nvSpPr>
        <p:spPr>
          <a:xfrm>
            <a:off x="182880" y="868680"/>
            <a:ext cx="3931920" cy="347472"/>
          </a:xfrm>
          <a:prstGeom prst="rect">
            <a:avLst/>
          </a:prstGeom>
          <a:solidFill>
            <a:srgbClr val="0A7EA4"/>
          </a:solidFill>
          <a:ln cap="flat" cmpd="sng" w="12700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5"/>
          <p:cNvSpPr/>
          <p:nvPr/>
        </p:nvSpPr>
        <p:spPr>
          <a:xfrm>
            <a:off x="182880" y="868680"/>
            <a:ext cx="3931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Campos de DatosTurbina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5"/>
          <p:cNvSpPr/>
          <p:nvPr/>
        </p:nvSpPr>
        <p:spPr>
          <a:xfrm>
            <a:off x="320040" y="1298448"/>
            <a:ext cx="1737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950"/>
              <a:buFont typeface="Consolas"/>
              <a:buNone/>
            </a:pPr>
            <a:r>
              <a:rPr b="1" lang="en-US" sz="950">
                <a:solidFill>
                  <a:srgbClr val="00C8FF"/>
                </a:solidFill>
                <a:latin typeface="Consolas"/>
                <a:ea typeface="Consolas"/>
                <a:cs typeface="Consolas"/>
                <a:sym typeface="Consolas"/>
              </a:rPr>
              <a:t>turbina_id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5"/>
          <p:cNvSpPr/>
          <p:nvPr/>
        </p:nvSpPr>
        <p:spPr>
          <a:xfrm>
            <a:off x="2084832" y="1298448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40"/>
              </a:buClr>
              <a:buSzPts val="900"/>
              <a:buFont typeface="Consolas"/>
              <a:buNone/>
            </a:pPr>
            <a:r>
              <a:rPr lang="en-US" sz="900">
                <a:solidFill>
                  <a:srgbClr val="FFD740"/>
                </a:solidFill>
                <a:latin typeface="Consolas"/>
                <a:ea typeface="Consolas"/>
                <a:cs typeface="Consolas"/>
                <a:sym typeface="Consolas"/>
              </a:rPr>
              <a:t>str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5"/>
          <p:cNvSpPr/>
          <p:nvPr/>
        </p:nvSpPr>
        <p:spPr>
          <a:xfrm>
            <a:off x="2743200" y="1298448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850"/>
              <a:buFont typeface="Calibri"/>
              <a:buNone/>
            </a:pPr>
            <a:r>
              <a:rPr lang="en-US" sz="85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Identificador de la turbina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5"/>
          <p:cNvSpPr/>
          <p:nvPr/>
        </p:nvSpPr>
        <p:spPr>
          <a:xfrm>
            <a:off x="320040" y="1691640"/>
            <a:ext cx="1737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950"/>
              <a:buFont typeface="Consolas"/>
              <a:buNone/>
            </a:pPr>
            <a:r>
              <a:rPr b="1" lang="en-US" sz="950">
                <a:solidFill>
                  <a:srgbClr val="00C8FF"/>
                </a:solidFill>
                <a:latin typeface="Consolas"/>
                <a:ea typeface="Consolas"/>
                <a:cs typeface="Consolas"/>
                <a:sym typeface="Consolas"/>
              </a:rPr>
              <a:t>timestamp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5"/>
          <p:cNvSpPr/>
          <p:nvPr/>
        </p:nvSpPr>
        <p:spPr>
          <a:xfrm>
            <a:off x="2084832" y="169164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40"/>
              </a:buClr>
              <a:buSzPts val="900"/>
              <a:buFont typeface="Consolas"/>
              <a:buNone/>
            </a:pPr>
            <a:r>
              <a:rPr lang="en-US" sz="900">
                <a:solidFill>
                  <a:srgbClr val="FFD740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5"/>
          <p:cNvSpPr/>
          <p:nvPr/>
        </p:nvSpPr>
        <p:spPr>
          <a:xfrm>
            <a:off x="2743200" y="169164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850"/>
              <a:buFont typeface="Calibri"/>
              <a:buNone/>
            </a:pPr>
            <a:r>
              <a:rPr lang="en-US" sz="85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ms epoch 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5"/>
          <p:cNvSpPr/>
          <p:nvPr/>
        </p:nvSpPr>
        <p:spPr>
          <a:xfrm>
            <a:off x="320040" y="2084832"/>
            <a:ext cx="1737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950"/>
              <a:buFont typeface="Consolas"/>
              <a:buNone/>
            </a:pPr>
            <a:r>
              <a:rPr b="1" lang="en-US" sz="950">
                <a:solidFill>
                  <a:srgbClr val="00C8FF"/>
                </a:solidFill>
                <a:latin typeface="Consolas"/>
                <a:ea typeface="Consolas"/>
                <a:cs typeface="Consolas"/>
                <a:sym typeface="Consolas"/>
              </a:rPr>
              <a:t>velocidad_viento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5"/>
          <p:cNvSpPr/>
          <p:nvPr/>
        </p:nvSpPr>
        <p:spPr>
          <a:xfrm>
            <a:off x="2084832" y="2084832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40"/>
              </a:buClr>
              <a:buSzPts val="900"/>
              <a:buFont typeface="Consolas"/>
              <a:buNone/>
            </a:pPr>
            <a:r>
              <a:rPr lang="en-US" sz="900">
                <a:solidFill>
                  <a:srgbClr val="FFD740"/>
                </a:solidFill>
                <a:latin typeface="Consolas"/>
                <a:ea typeface="Consolas"/>
                <a:cs typeface="Consolas"/>
                <a:sym typeface="Consolas"/>
              </a:rPr>
              <a:t>float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5"/>
          <p:cNvSpPr/>
          <p:nvPr/>
        </p:nvSpPr>
        <p:spPr>
          <a:xfrm>
            <a:off x="2743200" y="2084832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850"/>
              <a:buFont typeface="Calibri"/>
              <a:buNone/>
            </a:pPr>
            <a:r>
              <a:rPr lang="en-US" sz="85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0 – 40 m/s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5"/>
          <p:cNvSpPr/>
          <p:nvPr/>
        </p:nvSpPr>
        <p:spPr>
          <a:xfrm>
            <a:off x="320040" y="2478024"/>
            <a:ext cx="1737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950"/>
              <a:buFont typeface="Consolas"/>
              <a:buNone/>
            </a:pPr>
            <a:r>
              <a:rPr b="1" lang="en-US" sz="950">
                <a:solidFill>
                  <a:srgbClr val="00C8FF"/>
                </a:solidFill>
                <a:latin typeface="Consolas"/>
                <a:ea typeface="Consolas"/>
                <a:cs typeface="Consolas"/>
                <a:sym typeface="Consolas"/>
              </a:rPr>
              <a:t>potencia_generada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5"/>
          <p:cNvSpPr/>
          <p:nvPr/>
        </p:nvSpPr>
        <p:spPr>
          <a:xfrm>
            <a:off x="2084832" y="2478024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40"/>
              </a:buClr>
              <a:buSzPts val="900"/>
              <a:buFont typeface="Consolas"/>
              <a:buNone/>
            </a:pPr>
            <a:r>
              <a:rPr lang="en-US" sz="900">
                <a:solidFill>
                  <a:srgbClr val="FFD740"/>
                </a:solidFill>
                <a:latin typeface="Consolas"/>
                <a:ea typeface="Consolas"/>
                <a:cs typeface="Consolas"/>
                <a:sym typeface="Consolas"/>
              </a:rPr>
              <a:t>float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5"/>
          <p:cNvSpPr/>
          <p:nvPr/>
        </p:nvSpPr>
        <p:spPr>
          <a:xfrm>
            <a:off x="2743200" y="2478024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850"/>
              <a:buFont typeface="Calibri"/>
              <a:buNone/>
            </a:pPr>
            <a:r>
              <a:rPr lang="en-US" sz="85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0 – 3000 kW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5"/>
          <p:cNvSpPr/>
          <p:nvPr/>
        </p:nvSpPr>
        <p:spPr>
          <a:xfrm>
            <a:off x="320040" y="2871216"/>
            <a:ext cx="1737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950"/>
              <a:buFont typeface="Consolas"/>
              <a:buNone/>
            </a:pPr>
            <a:r>
              <a:rPr b="1" lang="en-US" sz="950">
                <a:solidFill>
                  <a:srgbClr val="00C8FF"/>
                </a:solidFill>
                <a:latin typeface="Consolas"/>
                <a:ea typeface="Consolas"/>
                <a:cs typeface="Consolas"/>
                <a:sym typeface="Consolas"/>
              </a:rPr>
              <a:t>temperatura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5"/>
          <p:cNvSpPr/>
          <p:nvPr/>
        </p:nvSpPr>
        <p:spPr>
          <a:xfrm>
            <a:off x="2084832" y="2871216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40"/>
              </a:buClr>
              <a:buSzPts val="900"/>
              <a:buFont typeface="Consolas"/>
              <a:buNone/>
            </a:pPr>
            <a:r>
              <a:rPr lang="en-US" sz="900">
                <a:solidFill>
                  <a:srgbClr val="FFD740"/>
                </a:solidFill>
                <a:latin typeface="Consolas"/>
                <a:ea typeface="Consolas"/>
                <a:cs typeface="Consolas"/>
                <a:sym typeface="Consolas"/>
              </a:rPr>
              <a:t>float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5"/>
          <p:cNvSpPr/>
          <p:nvPr/>
        </p:nvSpPr>
        <p:spPr>
          <a:xfrm>
            <a:off x="2743200" y="2871216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850"/>
              <a:buFont typeface="Calibri"/>
              <a:buNone/>
            </a:pPr>
            <a:r>
              <a:rPr lang="en-US" sz="85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-20 – 80 °C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5"/>
          <p:cNvSpPr/>
          <p:nvPr/>
        </p:nvSpPr>
        <p:spPr>
          <a:xfrm>
            <a:off x="320040" y="3264408"/>
            <a:ext cx="1737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950"/>
              <a:buFont typeface="Consolas"/>
              <a:buNone/>
            </a:pPr>
            <a:r>
              <a:rPr b="1" lang="en-US" sz="950">
                <a:solidFill>
                  <a:srgbClr val="00C8FF"/>
                </a:solidFill>
                <a:latin typeface="Consolas"/>
                <a:ea typeface="Consolas"/>
                <a:cs typeface="Consolas"/>
                <a:sym typeface="Consolas"/>
              </a:rPr>
              <a:t>rpm_rotor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5"/>
          <p:cNvSpPr/>
          <p:nvPr/>
        </p:nvSpPr>
        <p:spPr>
          <a:xfrm>
            <a:off x="2084832" y="3264408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40"/>
              </a:buClr>
              <a:buSzPts val="900"/>
              <a:buFont typeface="Consolas"/>
              <a:buNone/>
            </a:pPr>
            <a:r>
              <a:rPr lang="en-US" sz="900">
                <a:solidFill>
                  <a:srgbClr val="FFD740"/>
                </a:solidFill>
                <a:latin typeface="Consolas"/>
                <a:ea typeface="Consolas"/>
                <a:cs typeface="Consolas"/>
                <a:sym typeface="Consolas"/>
              </a:rPr>
              <a:t>float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5"/>
          <p:cNvSpPr/>
          <p:nvPr/>
        </p:nvSpPr>
        <p:spPr>
          <a:xfrm>
            <a:off x="2743200" y="3264408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850"/>
              <a:buFont typeface="Calibri"/>
              <a:buNone/>
            </a:pPr>
            <a:r>
              <a:rPr lang="en-US" sz="85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0 – 25 rpm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5"/>
          <p:cNvSpPr/>
          <p:nvPr/>
        </p:nvSpPr>
        <p:spPr>
          <a:xfrm>
            <a:off x="320040" y="3657600"/>
            <a:ext cx="1737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950"/>
              <a:buFont typeface="Consolas"/>
              <a:buNone/>
            </a:pPr>
            <a:r>
              <a:rPr b="1" lang="en-US" sz="950">
                <a:solidFill>
                  <a:srgbClr val="00C8FF"/>
                </a:solidFill>
                <a:latin typeface="Consolas"/>
                <a:ea typeface="Consolas"/>
                <a:cs typeface="Consolas"/>
                <a:sym typeface="Consolas"/>
              </a:rPr>
              <a:t>es_erroneo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5"/>
          <p:cNvSpPr/>
          <p:nvPr/>
        </p:nvSpPr>
        <p:spPr>
          <a:xfrm>
            <a:off x="2084832" y="365760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40"/>
              </a:buClr>
              <a:buSzPts val="900"/>
              <a:buFont typeface="Consolas"/>
              <a:buNone/>
            </a:pPr>
            <a:r>
              <a:rPr lang="en-US" sz="900">
                <a:solidFill>
                  <a:srgbClr val="FFD740"/>
                </a:solidFill>
                <a:latin typeface="Consolas"/>
                <a:ea typeface="Consolas"/>
                <a:cs typeface="Consolas"/>
                <a:sym typeface="Consolas"/>
              </a:rPr>
              <a:t>bool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5"/>
          <p:cNvSpPr/>
          <p:nvPr/>
        </p:nvSpPr>
        <p:spPr>
          <a:xfrm>
            <a:off x="2743200" y="365760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850"/>
              <a:buFont typeface="Calibri"/>
              <a:buNone/>
            </a:pPr>
            <a:r>
              <a:rPr lang="en-US" sz="85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El generador avisa del fallo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5"/>
          <p:cNvSpPr/>
          <p:nvPr/>
        </p:nvSpPr>
        <p:spPr>
          <a:xfrm>
            <a:off x="4297680" y="868680"/>
            <a:ext cx="4663440" cy="320040"/>
          </a:xfrm>
          <a:prstGeom prst="rect">
            <a:avLst/>
          </a:prstGeom>
          <a:solidFill>
            <a:srgbClr val="0A7EA4"/>
          </a:solidFill>
          <a:ln cap="flat" cmpd="sng" w="12700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5"/>
          <p:cNvSpPr/>
          <p:nvPr/>
        </p:nvSpPr>
        <p:spPr>
          <a:xfrm>
            <a:off x="4297680" y="868680"/>
            <a:ext cx="46634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 Dimensiones de Calidad del Dato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5"/>
          <p:cNvSpPr/>
          <p:nvPr/>
        </p:nvSpPr>
        <p:spPr>
          <a:xfrm>
            <a:off x="4297680" y="1243584"/>
            <a:ext cx="45720" cy="402336"/>
          </a:xfrm>
          <a:prstGeom prst="rect">
            <a:avLst/>
          </a:prstGeom>
          <a:solidFill>
            <a:srgbClr val="00D68F"/>
          </a:solidFill>
          <a:ln cap="flat" cmpd="sng" w="12700">
            <a:solidFill>
              <a:srgbClr val="00D6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5"/>
          <p:cNvSpPr/>
          <p:nvPr/>
        </p:nvSpPr>
        <p:spPr>
          <a:xfrm>
            <a:off x="4434840" y="1243584"/>
            <a:ext cx="1828800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68F"/>
              </a:buClr>
              <a:buSzPts val="1050"/>
              <a:buFont typeface="Calibri"/>
              <a:buNone/>
            </a:pPr>
            <a:r>
              <a:rPr b="1" lang="en-US" sz="1050">
                <a:solidFill>
                  <a:srgbClr val="00D68F"/>
                </a:solidFill>
                <a:latin typeface="Calibri"/>
                <a:ea typeface="Calibri"/>
                <a:cs typeface="Calibri"/>
                <a:sym typeface="Calibri"/>
              </a:rPr>
              <a:t>Completitud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5"/>
          <p:cNvSpPr/>
          <p:nvPr/>
        </p:nvSpPr>
        <p:spPr>
          <a:xfrm>
            <a:off x="4434840" y="1472184"/>
            <a:ext cx="43891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Todos los campos obligatorios. Si falta uno → 422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5"/>
          <p:cNvSpPr/>
          <p:nvPr/>
        </p:nvSpPr>
        <p:spPr>
          <a:xfrm>
            <a:off x="4297680" y="1746504"/>
            <a:ext cx="45720" cy="402336"/>
          </a:xfrm>
          <a:prstGeom prst="rect">
            <a:avLst/>
          </a:prstGeom>
          <a:solidFill>
            <a:srgbClr val="00C8FF"/>
          </a:solidFill>
          <a:ln cap="flat" cmpd="sng" w="12700">
            <a:solidFill>
              <a:srgbClr val="00C8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5"/>
          <p:cNvSpPr/>
          <p:nvPr/>
        </p:nvSpPr>
        <p:spPr>
          <a:xfrm>
            <a:off x="4434840" y="1746504"/>
            <a:ext cx="1828800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1050"/>
              <a:buFont typeface="Calibri"/>
              <a:buNone/>
            </a:pPr>
            <a:r>
              <a:rPr b="1" lang="en-US" sz="1050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Exactitud</a:t>
            </a:r>
            <a:endParaRPr b="1" sz="1050">
              <a:solidFill>
                <a:srgbClr val="00C8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5"/>
          <p:cNvSpPr/>
          <p:nvPr/>
        </p:nvSpPr>
        <p:spPr>
          <a:xfrm>
            <a:off x="4434840" y="1975104"/>
            <a:ext cx="43891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Valores reales y dentro de los límites</a:t>
            </a:r>
            <a:endParaRPr sz="900">
              <a:solidFill>
                <a:srgbClr val="E8F4F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5"/>
          <p:cNvSpPr/>
          <p:nvPr/>
        </p:nvSpPr>
        <p:spPr>
          <a:xfrm>
            <a:off x="4297680" y="2249424"/>
            <a:ext cx="45720" cy="402336"/>
          </a:xfrm>
          <a:prstGeom prst="rect">
            <a:avLst/>
          </a:prstGeom>
          <a:solidFill>
            <a:srgbClr val="FFD740"/>
          </a:solidFill>
          <a:ln cap="flat" cmpd="sng" w="12700">
            <a:solidFill>
              <a:srgbClr val="FFD7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5"/>
          <p:cNvSpPr/>
          <p:nvPr/>
        </p:nvSpPr>
        <p:spPr>
          <a:xfrm>
            <a:off x="4434840" y="2249424"/>
            <a:ext cx="1828800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40"/>
              </a:buClr>
              <a:buSzPts val="1050"/>
              <a:buFont typeface="Calibri"/>
              <a:buNone/>
            </a:pPr>
            <a:r>
              <a:rPr b="1" lang="en-US" sz="1050">
                <a:solidFill>
                  <a:srgbClr val="FFD740"/>
                </a:solidFill>
                <a:latin typeface="Calibri"/>
                <a:ea typeface="Calibri"/>
                <a:cs typeface="Calibri"/>
                <a:sym typeface="Calibri"/>
              </a:rPr>
              <a:t>Validez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5"/>
          <p:cNvSpPr/>
          <p:nvPr/>
        </p:nvSpPr>
        <p:spPr>
          <a:xfrm>
            <a:off x="4434840" y="2478024"/>
            <a:ext cx="43891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El formato de los datos debe ser correcto, ej: </a:t>
            </a:r>
            <a:r>
              <a:rPr lang="en-US" sz="9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tipos correctos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5"/>
          <p:cNvSpPr/>
          <p:nvPr/>
        </p:nvSpPr>
        <p:spPr>
          <a:xfrm>
            <a:off x="4297680" y="2752344"/>
            <a:ext cx="45720" cy="402336"/>
          </a:xfrm>
          <a:prstGeom prst="rect">
            <a:avLst/>
          </a:prstGeom>
          <a:solidFill>
            <a:srgbClr val="FF7043"/>
          </a:solidFill>
          <a:ln cap="flat" cmpd="sng" w="12700">
            <a:solidFill>
              <a:srgbClr val="FF70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5"/>
          <p:cNvSpPr/>
          <p:nvPr/>
        </p:nvSpPr>
        <p:spPr>
          <a:xfrm>
            <a:off x="4434840" y="2752344"/>
            <a:ext cx="18288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7043"/>
              </a:buClr>
              <a:buSzPts val="1050"/>
              <a:buFont typeface="Calibri"/>
              <a:buNone/>
            </a:pPr>
            <a:r>
              <a:rPr b="1" lang="en-US" sz="1050">
                <a:solidFill>
                  <a:srgbClr val="FF7043"/>
                </a:solidFill>
                <a:latin typeface="Calibri"/>
                <a:ea typeface="Calibri"/>
                <a:cs typeface="Calibri"/>
                <a:sym typeface="Calibri"/>
              </a:rPr>
              <a:t>Consistencia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5"/>
          <p:cNvSpPr/>
          <p:nvPr/>
        </p:nvSpPr>
        <p:spPr>
          <a:xfrm>
            <a:off x="4434840" y="2980944"/>
            <a:ext cx="43891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Los datos deben tener sentido, ej: La relación de potencia generado con la velocidad del viento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5"/>
          <p:cNvSpPr/>
          <p:nvPr/>
        </p:nvSpPr>
        <p:spPr>
          <a:xfrm>
            <a:off x="4297680" y="3255264"/>
            <a:ext cx="45720" cy="402336"/>
          </a:xfrm>
          <a:prstGeom prst="rect">
            <a:avLst/>
          </a:prstGeom>
          <a:solidFill>
            <a:srgbClr val="7BAFC8"/>
          </a:solidFill>
          <a:ln cap="flat" cmpd="sng" w="12700">
            <a:solidFill>
              <a:srgbClr val="7BA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5"/>
          <p:cNvSpPr/>
          <p:nvPr/>
        </p:nvSpPr>
        <p:spPr>
          <a:xfrm>
            <a:off x="4434840" y="3255264"/>
            <a:ext cx="1828800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1050"/>
              <a:buFont typeface="Calibri"/>
              <a:buNone/>
            </a:pPr>
            <a:r>
              <a:rPr b="1" lang="en-US" sz="105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Unicidad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5"/>
          <p:cNvSpPr/>
          <p:nvPr/>
        </p:nvSpPr>
        <p:spPr>
          <a:xfrm>
            <a:off x="4434840" y="3483864"/>
            <a:ext cx="43891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No </a:t>
            </a:r>
            <a:r>
              <a:rPr lang="en-US" sz="9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existen</a:t>
            </a:r>
            <a:r>
              <a:rPr lang="en-US" sz="9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 datos duplicados (mismo registro enviado dos veces)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5"/>
          <p:cNvSpPr/>
          <p:nvPr/>
        </p:nvSpPr>
        <p:spPr>
          <a:xfrm>
            <a:off x="4297680" y="3758184"/>
            <a:ext cx="45720" cy="402336"/>
          </a:xfrm>
          <a:prstGeom prst="rect">
            <a:avLst/>
          </a:prstGeom>
          <a:solidFill>
            <a:srgbClr val="CE93D8"/>
          </a:solidFill>
          <a:ln cap="flat" cmpd="sng" w="12700">
            <a:solidFill>
              <a:srgbClr val="CE93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5"/>
          <p:cNvSpPr/>
          <p:nvPr/>
        </p:nvSpPr>
        <p:spPr>
          <a:xfrm>
            <a:off x="4434840" y="3758184"/>
            <a:ext cx="1828800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E93D8"/>
              </a:buClr>
              <a:buSzPts val="1050"/>
              <a:buFont typeface="Calibri"/>
              <a:buNone/>
            </a:pPr>
            <a:r>
              <a:rPr b="1" lang="en-US" sz="1050">
                <a:solidFill>
                  <a:srgbClr val="CE93D8"/>
                </a:solidFill>
                <a:latin typeface="Calibri"/>
                <a:ea typeface="Calibri"/>
                <a:cs typeface="Calibri"/>
                <a:sym typeface="Calibri"/>
              </a:rPr>
              <a:t>Puntualidad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5"/>
          <p:cNvSpPr/>
          <p:nvPr/>
        </p:nvSpPr>
        <p:spPr>
          <a:xfrm>
            <a:off x="4434840" y="3986784"/>
            <a:ext cx="43891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Dato &gt;5 min antiguo o timestamp futuro → rechazado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5"/>
          <p:cNvSpPr/>
          <p:nvPr/>
        </p:nvSpPr>
        <p:spPr>
          <a:xfrm>
            <a:off x="182880" y="4297680"/>
            <a:ext cx="8778240" cy="594360"/>
          </a:xfrm>
          <a:prstGeom prst="rect">
            <a:avLst/>
          </a:prstGeom>
          <a:solidFill>
            <a:srgbClr val="05294A"/>
          </a:solidFill>
          <a:ln cap="flat" cmpd="sng" w="9525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5"/>
          <p:cNvSpPr/>
          <p:nvPr/>
        </p:nvSpPr>
        <p:spPr>
          <a:xfrm>
            <a:off x="365760" y="4315968"/>
            <a:ext cx="84124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📁  modelo.py está en la raíz del proyecto, lo importan tanto el concentrador como los generadores.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Cambiar un rango físico en un solo sitio actualiza toda la validación.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4101E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6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A7EA4"/>
          </a:solidFill>
          <a:ln cap="flat" cmpd="sng" w="12700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6"/>
          <p:cNvSpPr/>
          <p:nvPr/>
        </p:nvSpPr>
        <p:spPr>
          <a:xfrm>
            <a:off x="320040" y="256032"/>
            <a:ext cx="8503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b="1" lang="en-US" sz="2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 · Concentrador FastAPI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6"/>
          <p:cNvSpPr/>
          <p:nvPr/>
        </p:nvSpPr>
        <p:spPr>
          <a:xfrm>
            <a:off x="182880" y="960120"/>
            <a:ext cx="1554480" cy="1371600"/>
          </a:xfrm>
          <a:prstGeom prst="rect">
            <a:avLst/>
          </a:prstGeom>
          <a:solidFill>
            <a:srgbClr val="05294A"/>
          </a:solidFill>
          <a:ln cap="flat" cmpd="sng" w="19050">
            <a:solidFill>
              <a:srgbClr val="00C8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6"/>
          <p:cNvSpPr/>
          <p:nvPr/>
        </p:nvSpPr>
        <p:spPr>
          <a:xfrm>
            <a:off x="731520" y="1005840"/>
            <a:ext cx="457200" cy="457200"/>
          </a:xfrm>
          <a:prstGeom prst="ellipse">
            <a:avLst/>
          </a:prstGeom>
          <a:solidFill>
            <a:srgbClr val="00C8FF"/>
          </a:solidFill>
          <a:ln cap="flat" cmpd="sng" w="12700">
            <a:solidFill>
              <a:srgbClr val="00C8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6"/>
          <p:cNvSpPr/>
          <p:nvPr/>
        </p:nvSpPr>
        <p:spPr>
          <a:xfrm>
            <a:off x="731520" y="100584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4101E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04101E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6"/>
          <p:cNvSpPr/>
          <p:nvPr/>
        </p:nvSpPr>
        <p:spPr>
          <a:xfrm>
            <a:off x="256032" y="1536192"/>
            <a:ext cx="14173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Llega POST /datos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+ API Key header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6"/>
          <p:cNvSpPr/>
          <p:nvPr/>
        </p:nvSpPr>
        <p:spPr>
          <a:xfrm>
            <a:off x="1755648" y="1618488"/>
            <a:ext cx="155448" cy="36576"/>
          </a:xfrm>
          <a:prstGeom prst="rect">
            <a:avLst/>
          </a:prstGeom>
          <a:solidFill>
            <a:srgbClr val="7BAFC8"/>
          </a:solidFill>
          <a:ln cap="flat" cmpd="sng" w="12700">
            <a:solidFill>
              <a:srgbClr val="7BA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6"/>
          <p:cNvSpPr/>
          <p:nvPr/>
        </p:nvSpPr>
        <p:spPr>
          <a:xfrm>
            <a:off x="1920240" y="960120"/>
            <a:ext cx="1554480" cy="1371600"/>
          </a:xfrm>
          <a:prstGeom prst="rect">
            <a:avLst/>
          </a:prstGeom>
          <a:solidFill>
            <a:srgbClr val="05294A"/>
          </a:solidFill>
          <a:ln cap="flat" cmpd="sng" w="19050">
            <a:solidFill>
              <a:srgbClr val="FFD7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6"/>
          <p:cNvSpPr/>
          <p:nvPr/>
        </p:nvSpPr>
        <p:spPr>
          <a:xfrm>
            <a:off x="2468880" y="1005840"/>
            <a:ext cx="457200" cy="457200"/>
          </a:xfrm>
          <a:prstGeom prst="ellipse">
            <a:avLst/>
          </a:prstGeom>
          <a:solidFill>
            <a:srgbClr val="FFD740"/>
          </a:solidFill>
          <a:ln cap="flat" cmpd="sng" w="12700">
            <a:solidFill>
              <a:srgbClr val="FFD7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6"/>
          <p:cNvSpPr/>
          <p:nvPr/>
        </p:nvSpPr>
        <p:spPr>
          <a:xfrm>
            <a:off x="2468880" y="100584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4101E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04101E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6"/>
          <p:cNvSpPr/>
          <p:nvPr/>
        </p:nvSpPr>
        <p:spPr>
          <a:xfrm>
            <a:off x="1993392" y="1536192"/>
            <a:ext cx="14173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verificar_api_key()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→ 401 si no válida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6"/>
          <p:cNvSpPr/>
          <p:nvPr/>
        </p:nvSpPr>
        <p:spPr>
          <a:xfrm>
            <a:off x="3493008" y="1618488"/>
            <a:ext cx="155448" cy="36576"/>
          </a:xfrm>
          <a:prstGeom prst="rect">
            <a:avLst/>
          </a:prstGeom>
          <a:solidFill>
            <a:srgbClr val="7BAFC8"/>
          </a:solidFill>
          <a:ln cap="flat" cmpd="sng" w="12700">
            <a:solidFill>
              <a:srgbClr val="7BA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6"/>
          <p:cNvSpPr/>
          <p:nvPr/>
        </p:nvSpPr>
        <p:spPr>
          <a:xfrm>
            <a:off x="3657600" y="960120"/>
            <a:ext cx="1554480" cy="1371600"/>
          </a:xfrm>
          <a:prstGeom prst="rect">
            <a:avLst/>
          </a:prstGeom>
          <a:solidFill>
            <a:srgbClr val="05294A"/>
          </a:solidFill>
          <a:ln cap="flat" cmpd="sng" w="19050">
            <a:solidFill>
              <a:srgbClr val="00D6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6"/>
          <p:cNvSpPr/>
          <p:nvPr/>
        </p:nvSpPr>
        <p:spPr>
          <a:xfrm>
            <a:off x="4206240" y="1005840"/>
            <a:ext cx="457200" cy="457200"/>
          </a:xfrm>
          <a:prstGeom prst="ellipse">
            <a:avLst/>
          </a:prstGeom>
          <a:solidFill>
            <a:srgbClr val="00D68F"/>
          </a:solidFill>
          <a:ln cap="flat" cmpd="sng" w="12700">
            <a:solidFill>
              <a:srgbClr val="00D6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6"/>
          <p:cNvSpPr/>
          <p:nvPr/>
        </p:nvSpPr>
        <p:spPr>
          <a:xfrm>
            <a:off x="4206240" y="100584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4101E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04101E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6"/>
          <p:cNvSpPr/>
          <p:nvPr/>
        </p:nvSpPr>
        <p:spPr>
          <a:xfrm>
            <a:off x="3730752" y="1536192"/>
            <a:ext cx="14173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Pydantic valida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6 dimensiones → 422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6"/>
          <p:cNvSpPr/>
          <p:nvPr/>
        </p:nvSpPr>
        <p:spPr>
          <a:xfrm>
            <a:off x="5230368" y="1618488"/>
            <a:ext cx="155448" cy="36576"/>
          </a:xfrm>
          <a:prstGeom prst="rect">
            <a:avLst/>
          </a:prstGeom>
          <a:solidFill>
            <a:srgbClr val="7BAFC8"/>
          </a:solidFill>
          <a:ln cap="flat" cmpd="sng" w="12700">
            <a:solidFill>
              <a:srgbClr val="7BA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6"/>
          <p:cNvSpPr/>
          <p:nvPr/>
        </p:nvSpPr>
        <p:spPr>
          <a:xfrm>
            <a:off x="5394960" y="960120"/>
            <a:ext cx="1554480" cy="1371600"/>
          </a:xfrm>
          <a:prstGeom prst="rect">
            <a:avLst/>
          </a:prstGeom>
          <a:solidFill>
            <a:srgbClr val="05294A"/>
          </a:solidFill>
          <a:ln cap="flat" cmpd="sng" w="19050">
            <a:solidFill>
              <a:srgbClr val="FF70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6"/>
          <p:cNvSpPr/>
          <p:nvPr/>
        </p:nvSpPr>
        <p:spPr>
          <a:xfrm>
            <a:off x="5943600" y="1005840"/>
            <a:ext cx="457200" cy="457200"/>
          </a:xfrm>
          <a:prstGeom prst="ellipse">
            <a:avLst/>
          </a:prstGeom>
          <a:solidFill>
            <a:srgbClr val="FF7043"/>
          </a:solidFill>
          <a:ln cap="flat" cmpd="sng" w="12700">
            <a:solidFill>
              <a:srgbClr val="FF70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6"/>
          <p:cNvSpPr/>
          <p:nvPr/>
        </p:nvSpPr>
        <p:spPr>
          <a:xfrm>
            <a:off x="5943600" y="100584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4101E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04101E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6"/>
          <p:cNvSpPr/>
          <p:nvPr/>
        </p:nvSpPr>
        <p:spPr>
          <a:xfrm>
            <a:off x="5468112" y="1536192"/>
            <a:ext cx="14173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Guardar en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PostgreSQL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6"/>
          <p:cNvSpPr/>
          <p:nvPr/>
        </p:nvSpPr>
        <p:spPr>
          <a:xfrm>
            <a:off x="6967728" y="1618488"/>
            <a:ext cx="155448" cy="36576"/>
          </a:xfrm>
          <a:prstGeom prst="rect">
            <a:avLst/>
          </a:prstGeom>
          <a:solidFill>
            <a:srgbClr val="7BAFC8"/>
          </a:solidFill>
          <a:ln cap="flat" cmpd="sng" w="12700">
            <a:solidFill>
              <a:srgbClr val="7BA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6"/>
          <p:cNvSpPr/>
          <p:nvPr/>
        </p:nvSpPr>
        <p:spPr>
          <a:xfrm>
            <a:off x="7132320" y="960120"/>
            <a:ext cx="1554480" cy="1371600"/>
          </a:xfrm>
          <a:prstGeom prst="rect">
            <a:avLst/>
          </a:prstGeom>
          <a:solidFill>
            <a:srgbClr val="05294A"/>
          </a:solidFill>
          <a:ln cap="flat" cmpd="sng" w="19050">
            <a:solidFill>
              <a:srgbClr val="CE93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6"/>
          <p:cNvSpPr/>
          <p:nvPr/>
        </p:nvSpPr>
        <p:spPr>
          <a:xfrm>
            <a:off x="7680960" y="1005840"/>
            <a:ext cx="457200" cy="457200"/>
          </a:xfrm>
          <a:prstGeom prst="ellipse">
            <a:avLst/>
          </a:prstGeom>
          <a:solidFill>
            <a:srgbClr val="CE93D8"/>
          </a:solidFill>
          <a:ln cap="flat" cmpd="sng" w="12700">
            <a:solidFill>
              <a:srgbClr val="CE93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6"/>
          <p:cNvSpPr/>
          <p:nvPr/>
        </p:nvSpPr>
        <p:spPr>
          <a:xfrm>
            <a:off x="7680960" y="100584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4101E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04101E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6"/>
          <p:cNvSpPr/>
          <p:nvPr/>
        </p:nvSpPr>
        <p:spPr>
          <a:xfrm>
            <a:off x="7205472" y="1536192"/>
            <a:ext cx="14173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Actualizar memoria FastApi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6"/>
          <p:cNvSpPr/>
          <p:nvPr/>
        </p:nvSpPr>
        <p:spPr>
          <a:xfrm>
            <a:off x="182880" y="2514600"/>
            <a:ext cx="8778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Endpoints expuestos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6"/>
          <p:cNvSpPr/>
          <p:nvPr/>
        </p:nvSpPr>
        <p:spPr>
          <a:xfrm>
            <a:off x="182880" y="2926080"/>
            <a:ext cx="685800" cy="347472"/>
          </a:xfrm>
          <a:prstGeom prst="rect">
            <a:avLst/>
          </a:prstGeom>
          <a:solidFill>
            <a:srgbClr val="00D68F"/>
          </a:solidFill>
          <a:ln cap="flat" cmpd="sng" w="12700">
            <a:solidFill>
              <a:srgbClr val="00D6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6"/>
          <p:cNvSpPr/>
          <p:nvPr/>
        </p:nvSpPr>
        <p:spPr>
          <a:xfrm>
            <a:off x="182880" y="2926080"/>
            <a:ext cx="685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4101E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04101E"/>
                </a:solidFill>
                <a:latin typeface="Calibri"/>
                <a:ea typeface="Calibri"/>
                <a:cs typeface="Calibri"/>
                <a:sym typeface="Calibri"/>
              </a:rPr>
              <a:t>POST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6"/>
          <p:cNvSpPr/>
          <p:nvPr/>
        </p:nvSpPr>
        <p:spPr>
          <a:xfrm>
            <a:off x="932688" y="2926080"/>
            <a:ext cx="1645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onsolas"/>
              <a:buNone/>
            </a:pPr>
            <a:r>
              <a:rPr b="1" lang="en-US" sz="95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/datos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6"/>
          <p:cNvSpPr/>
          <p:nvPr/>
        </p:nvSpPr>
        <p:spPr>
          <a:xfrm>
            <a:off x="2606040" y="2926080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Recibe y valida el dato de una turbina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6"/>
          <p:cNvSpPr/>
          <p:nvPr/>
        </p:nvSpPr>
        <p:spPr>
          <a:xfrm>
            <a:off x="4572000" y="2926080"/>
            <a:ext cx="685800" cy="347472"/>
          </a:xfrm>
          <a:prstGeom prst="rect">
            <a:avLst/>
          </a:prstGeom>
          <a:solidFill>
            <a:srgbClr val="00C8FF"/>
          </a:solidFill>
          <a:ln cap="flat" cmpd="sng" w="12700">
            <a:solidFill>
              <a:srgbClr val="00C8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6"/>
          <p:cNvSpPr/>
          <p:nvPr/>
        </p:nvSpPr>
        <p:spPr>
          <a:xfrm>
            <a:off x="4572000" y="2926080"/>
            <a:ext cx="685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4101E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04101E"/>
                </a:solidFill>
                <a:latin typeface="Calibri"/>
                <a:ea typeface="Calibri"/>
                <a:cs typeface="Calibri"/>
                <a:sym typeface="Calibri"/>
              </a:rPr>
              <a:t>GET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6"/>
          <p:cNvSpPr/>
          <p:nvPr/>
        </p:nvSpPr>
        <p:spPr>
          <a:xfrm>
            <a:off x="5321808" y="2926080"/>
            <a:ext cx="1645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onsolas"/>
              <a:buNone/>
            </a:pPr>
            <a:r>
              <a:rPr b="1" lang="en-US" sz="95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/estado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6"/>
          <p:cNvSpPr/>
          <p:nvPr/>
        </p:nvSpPr>
        <p:spPr>
          <a:xfrm>
            <a:off x="6995160" y="2926080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Estado en tiempo real del parque (panel web)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6"/>
          <p:cNvSpPr/>
          <p:nvPr/>
        </p:nvSpPr>
        <p:spPr>
          <a:xfrm>
            <a:off x="182880" y="3502152"/>
            <a:ext cx="685800" cy="347472"/>
          </a:xfrm>
          <a:prstGeom prst="rect">
            <a:avLst/>
          </a:prstGeom>
          <a:solidFill>
            <a:srgbClr val="00C8FF"/>
          </a:solidFill>
          <a:ln cap="flat" cmpd="sng" w="12700">
            <a:solidFill>
              <a:srgbClr val="00C8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6"/>
          <p:cNvSpPr/>
          <p:nvPr/>
        </p:nvSpPr>
        <p:spPr>
          <a:xfrm>
            <a:off x="182880" y="3502152"/>
            <a:ext cx="685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4101E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04101E"/>
                </a:solidFill>
                <a:latin typeface="Calibri"/>
                <a:ea typeface="Calibri"/>
                <a:cs typeface="Calibri"/>
                <a:sym typeface="Calibri"/>
              </a:rPr>
              <a:t>GET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6"/>
          <p:cNvSpPr/>
          <p:nvPr/>
        </p:nvSpPr>
        <p:spPr>
          <a:xfrm>
            <a:off x="932688" y="3502152"/>
            <a:ext cx="1645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onsolas"/>
              <a:buNone/>
            </a:pPr>
            <a:r>
              <a:rPr b="1" lang="en-US" sz="95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/lecturas/recientes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6"/>
          <p:cNvSpPr/>
          <p:nvPr/>
        </p:nvSpPr>
        <p:spPr>
          <a:xfrm>
            <a:off x="2606040" y="3502152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Últimas 50 lecturas válidas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6"/>
          <p:cNvSpPr/>
          <p:nvPr/>
        </p:nvSpPr>
        <p:spPr>
          <a:xfrm>
            <a:off x="4572000" y="3502152"/>
            <a:ext cx="685800" cy="347472"/>
          </a:xfrm>
          <a:prstGeom prst="rect">
            <a:avLst/>
          </a:prstGeom>
          <a:solidFill>
            <a:srgbClr val="00C8FF"/>
          </a:solidFill>
          <a:ln cap="flat" cmpd="sng" w="12700">
            <a:solidFill>
              <a:srgbClr val="00C8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6"/>
          <p:cNvSpPr/>
          <p:nvPr/>
        </p:nvSpPr>
        <p:spPr>
          <a:xfrm>
            <a:off x="4572000" y="3502152"/>
            <a:ext cx="685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4101E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04101E"/>
                </a:solidFill>
                <a:latin typeface="Calibri"/>
                <a:ea typeface="Calibri"/>
                <a:cs typeface="Calibri"/>
                <a:sym typeface="Calibri"/>
              </a:rPr>
              <a:t>GET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6"/>
          <p:cNvSpPr/>
          <p:nvPr/>
        </p:nvSpPr>
        <p:spPr>
          <a:xfrm>
            <a:off x="5321808" y="3502152"/>
            <a:ext cx="1645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onsolas"/>
              <a:buNone/>
            </a:pPr>
            <a:r>
              <a:rPr b="1" lang="en-US" sz="95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/rechazados/recientes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6"/>
          <p:cNvSpPr/>
          <p:nvPr/>
        </p:nvSpPr>
        <p:spPr>
          <a:xfrm>
            <a:off x="6995160" y="3502152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Últimos 30 datos rechazados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6"/>
          <p:cNvSpPr/>
          <p:nvPr/>
        </p:nvSpPr>
        <p:spPr>
          <a:xfrm>
            <a:off x="182880" y="4078224"/>
            <a:ext cx="685800" cy="347472"/>
          </a:xfrm>
          <a:prstGeom prst="rect">
            <a:avLst/>
          </a:prstGeom>
          <a:solidFill>
            <a:srgbClr val="00C8FF"/>
          </a:solidFill>
          <a:ln cap="flat" cmpd="sng" w="12700">
            <a:solidFill>
              <a:srgbClr val="00C8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6"/>
          <p:cNvSpPr/>
          <p:nvPr/>
        </p:nvSpPr>
        <p:spPr>
          <a:xfrm>
            <a:off x="182880" y="4078224"/>
            <a:ext cx="685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4101E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04101E"/>
                </a:solidFill>
                <a:latin typeface="Calibri"/>
                <a:ea typeface="Calibri"/>
                <a:cs typeface="Calibri"/>
                <a:sym typeface="Calibri"/>
              </a:rPr>
              <a:t>GET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6"/>
          <p:cNvSpPr/>
          <p:nvPr/>
        </p:nvSpPr>
        <p:spPr>
          <a:xfrm>
            <a:off x="932688" y="4078224"/>
            <a:ext cx="1645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onsolas"/>
              <a:buNone/>
            </a:pPr>
            <a:r>
              <a:rPr b="1" lang="en-US" sz="95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/agregados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6"/>
          <p:cNvSpPr/>
          <p:nvPr/>
        </p:nvSpPr>
        <p:spPr>
          <a:xfrm>
            <a:off x="2606040" y="4078224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Histórico de agregados minutales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6"/>
          <p:cNvSpPr/>
          <p:nvPr/>
        </p:nvSpPr>
        <p:spPr>
          <a:xfrm>
            <a:off x="182880" y="4645152"/>
            <a:ext cx="8778240" cy="320040"/>
          </a:xfrm>
          <a:prstGeom prst="rect">
            <a:avLst/>
          </a:prstGeom>
          <a:solidFill>
            <a:srgbClr val="05294A"/>
          </a:solidFill>
          <a:ln cap="flat" cmpd="sng" w="9525">
            <a:solidFill>
              <a:srgbClr val="FFD7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6"/>
          <p:cNvSpPr/>
          <p:nvPr/>
        </p:nvSpPr>
        <p:spPr>
          <a:xfrm>
            <a:off x="320040" y="4645152"/>
            <a:ext cx="8503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40"/>
              </a:buClr>
              <a:buSzPts val="900"/>
              <a:buFont typeface="Consolas"/>
              <a:buNone/>
            </a:pPr>
            <a:r>
              <a:rPr lang="en-US" sz="900">
                <a:solidFill>
                  <a:srgbClr val="FFD740"/>
                </a:solidFill>
                <a:latin typeface="Consolas"/>
                <a:ea typeface="Consolas"/>
                <a:cs typeface="Consolas"/>
                <a:sym typeface="Consolas"/>
              </a:rPr>
              <a:t>⏱  tarea_agregacion_minutal()  →  asyncio.sleep(60)  →  INSERT INTO agregados_minutales ... GROUP BY turbina, minuto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4101E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7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A7EA4"/>
          </a:solidFill>
          <a:ln cap="flat" cmpd="sng" w="12700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7"/>
          <p:cNvSpPr/>
          <p:nvPr/>
        </p:nvSpPr>
        <p:spPr>
          <a:xfrm>
            <a:off x="320040" y="256032"/>
            <a:ext cx="8503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b="1" lang="en-US" sz="2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05 · Generadores individuales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2" name="Google Shape;242;p7"/>
          <p:cNvGrpSpPr/>
          <p:nvPr/>
        </p:nvGrpSpPr>
        <p:grpSpPr>
          <a:xfrm>
            <a:off x="182880" y="822960"/>
            <a:ext cx="4572000" cy="2926080"/>
            <a:chOff x="182880" y="822960"/>
            <a:chExt cx="4572000" cy="2926080"/>
          </a:xfrm>
        </p:grpSpPr>
        <p:graphicFrame>
          <p:nvGraphicFramePr>
            <p:cNvPr id="243" name="Google Shape;243;p7"/>
            <p:cNvGraphicFramePr/>
            <p:nvPr/>
          </p:nvGraphicFramePr>
          <p:xfrm>
            <a:off x="182880" y="822960"/>
            <a:ext cx="4389120" cy="2926080"/>
          </p:xfrm>
          <a:graphic>
            <a:graphicData uri="http://schemas.openxmlformats.org/drawingml/2006/chart">
              <c:chart r:id="rId3"/>
            </a:graphicData>
          </a:graphic>
        </p:graphicFrame>
        <p:sp>
          <p:nvSpPr>
            <p:cNvPr id="244" name="Google Shape;244;p7"/>
            <p:cNvSpPr/>
            <p:nvPr/>
          </p:nvSpPr>
          <p:spPr>
            <a:xfrm>
              <a:off x="391703" y="2468880"/>
              <a:ext cx="822900" cy="41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FFD740"/>
                </a:buClr>
                <a:buSzPts val="800"/>
                <a:buFont typeface="Calibri"/>
                <a:buNone/>
              </a:pPr>
              <a:r>
                <a:rPr lang="en-US" sz="800">
                  <a:solidFill>
                    <a:srgbClr val="FFD740"/>
                  </a:solidFill>
                  <a:latin typeface="Calibri"/>
                  <a:ea typeface="Calibri"/>
                  <a:cs typeface="Calibri"/>
                  <a:sym typeface="Calibri"/>
                </a:rPr>
                <a:t>Cut-in</a:t>
              </a:r>
              <a:endParaRPr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FFD740"/>
                </a:buClr>
                <a:buSzPts val="800"/>
                <a:buFont typeface="Calibri"/>
                <a:buNone/>
              </a:pPr>
              <a:r>
                <a:rPr lang="en-US" sz="800">
                  <a:solidFill>
                    <a:srgbClr val="FFD740"/>
                  </a:solidFill>
                  <a:latin typeface="Calibri"/>
                  <a:ea typeface="Calibri"/>
                  <a:cs typeface="Calibri"/>
                  <a:sym typeface="Calibri"/>
                </a:rPr>
                <a:t>3 m/s</a:t>
              </a:r>
              <a:endParaRPr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5" name="Google Shape;245;p7"/>
            <p:cNvSpPr/>
            <p:nvPr/>
          </p:nvSpPr>
          <p:spPr>
            <a:xfrm>
              <a:off x="2711187" y="2468880"/>
              <a:ext cx="914400" cy="41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00D68F"/>
                </a:buClr>
                <a:buSzPts val="800"/>
                <a:buFont typeface="Calibri"/>
                <a:buNone/>
              </a:pPr>
              <a:r>
                <a:rPr lang="en-US" sz="800">
                  <a:solidFill>
                    <a:srgbClr val="00D68F"/>
                  </a:solidFill>
                  <a:latin typeface="Calibri"/>
                  <a:ea typeface="Calibri"/>
                  <a:cs typeface="Calibri"/>
                  <a:sym typeface="Calibri"/>
                </a:rPr>
                <a:t>Rated</a:t>
              </a:r>
              <a:endParaRPr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00D68F"/>
                </a:buClr>
                <a:buSzPts val="800"/>
                <a:buFont typeface="Calibri"/>
                <a:buNone/>
              </a:pPr>
              <a:r>
                <a:rPr lang="en-US" sz="800">
                  <a:solidFill>
                    <a:srgbClr val="00D68F"/>
                  </a:solidFill>
                  <a:latin typeface="Calibri"/>
                  <a:ea typeface="Calibri"/>
                  <a:cs typeface="Calibri"/>
                  <a:sym typeface="Calibri"/>
                </a:rPr>
                <a:t>12 m/s</a:t>
              </a:r>
              <a:endParaRPr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6" name="Google Shape;246;p7"/>
            <p:cNvSpPr/>
            <p:nvPr/>
          </p:nvSpPr>
          <p:spPr>
            <a:xfrm>
              <a:off x="3931920" y="2468880"/>
              <a:ext cx="822960" cy="4114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FF5252"/>
                </a:buClr>
                <a:buSzPts val="800"/>
                <a:buFont typeface="Calibri"/>
                <a:buNone/>
              </a:pPr>
              <a:r>
                <a:rPr lang="en-US" sz="800">
                  <a:solidFill>
                    <a:srgbClr val="FF5252"/>
                  </a:solidFill>
                  <a:latin typeface="Calibri"/>
                  <a:ea typeface="Calibri"/>
                  <a:cs typeface="Calibri"/>
                  <a:sym typeface="Calibri"/>
                </a:rPr>
                <a:t>Cut-out</a:t>
              </a:r>
              <a:endParaRPr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FF5252"/>
                </a:buClr>
                <a:buSzPts val="800"/>
                <a:buFont typeface="Calibri"/>
                <a:buNone/>
              </a:pPr>
              <a:r>
                <a:rPr lang="en-US" sz="800">
                  <a:solidFill>
                    <a:srgbClr val="FF5252"/>
                  </a:solidFill>
                  <a:latin typeface="Calibri"/>
                  <a:ea typeface="Calibri"/>
                  <a:cs typeface="Calibri"/>
                  <a:sym typeface="Calibri"/>
                </a:rPr>
                <a:t>25 m/s</a:t>
              </a:r>
              <a:endParaRPr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47" name="Google Shape;247;p7"/>
          <p:cNvSpPr/>
          <p:nvPr/>
        </p:nvSpPr>
        <p:spPr>
          <a:xfrm>
            <a:off x="4754880" y="822960"/>
            <a:ext cx="4206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Diferencias entre turbinas (via variables de entorno)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48" name="Google Shape;248;p7"/>
          <p:cNvGraphicFramePr/>
          <p:nvPr/>
        </p:nvGraphicFramePr>
        <p:xfrm>
          <a:off x="4754880" y="118872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{1D65D8CD-92B0-4D7A-B6FC-24D738DE7A7E}</a:tableStyleId>
              </a:tblPr>
              <a:tblGrid>
                <a:gridCol w="1280150"/>
                <a:gridCol w="1005850"/>
                <a:gridCol w="1005850"/>
                <a:gridCol w="914400"/>
              </a:tblGrid>
              <a:tr h="426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</a:rPr>
                        <a:t>Turbina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A7EA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</a:rPr>
                        <a:t>Nominal kW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A7EA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</a:rPr>
                        <a:t>Viento m/s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A7EA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</a:rPr>
                        <a:t>P(error)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A7EA4"/>
                    </a:solidFill>
                  </a:tcPr>
                </a:tc>
              </a:tr>
              <a:tr h="426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F4F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E8F4F8"/>
                          </a:solidFill>
                        </a:rPr>
                        <a:t>turbina_01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529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F4F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E8F4F8"/>
                          </a:solidFill>
                        </a:rPr>
                        <a:t>2000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529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F4F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E8F4F8"/>
                          </a:solidFill>
                        </a:rPr>
                        <a:t>12.0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529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F4F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E8F4F8"/>
                          </a:solidFill>
                        </a:rPr>
                        <a:t>10%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5294A"/>
                    </a:solidFill>
                  </a:tcPr>
                </a:tc>
              </a:tr>
              <a:tr h="426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F4F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E8F4F8"/>
                          </a:solidFill>
                        </a:rPr>
                        <a:t>turbina_02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529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F4F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E8F4F8"/>
                          </a:solidFill>
                        </a:rPr>
                        <a:t>2500 ⬆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529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F4F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E8F4F8"/>
                          </a:solidFill>
                        </a:rPr>
                        <a:t>13.5 ⬆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529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F4F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E8F4F8"/>
                          </a:solidFill>
                        </a:rPr>
                        <a:t>8%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5294A"/>
                    </a:solidFill>
                  </a:tcPr>
                </a:tc>
              </a:tr>
              <a:tr h="426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F4F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E8F4F8"/>
                          </a:solidFill>
                        </a:rPr>
                        <a:t>turbina_03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529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F4F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E8F4F8"/>
                          </a:solidFill>
                        </a:rPr>
                        <a:t>1800 ⬇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529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F4F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E8F4F8"/>
                          </a:solidFill>
                        </a:rPr>
                        <a:t>10.5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529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F4F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E8F4F8"/>
                          </a:solidFill>
                        </a:rPr>
                        <a:t>15% ⬆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5294A"/>
                    </a:solidFill>
                  </a:tcPr>
                </a:tc>
              </a:tr>
              <a:tr h="426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F4F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E8F4F8"/>
                          </a:solidFill>
                        </a:rPr>
                        <a:t>turbina_05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529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F4F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E8F4F8"/>
                          </a:solidFill>
                        </a:rPr>
                        <a:t>3000 ★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529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F4F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E8F4F8"/>
                          </a:solidFill>
                        </a:rPr>
                        <a:t>14.0 ★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529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F4F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E8F4F8"/>
                          </a:solidFill>
                        </a:rPr>
                        <a:t>5% ★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5294A"/>
                    </a:solidFill>
                  </a:tcPr>
                </a:tc>
              </a:tr>
              <a:tr h="426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F4F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E8F4F8"/>
                          </a:solidFill>
                        </a:rPr>
                        <a:t>turbina_08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529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F4F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E8F4F8"/>
                          </a:solidFill>
                        </a:rPr>
                        <a:t>1900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529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F4F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E8F4F8"/>
                          </a:solidFill>
                        </a:rPr>
                        <a:t>11.5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529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F4F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E8F4F8"/>
                          </a:solidFill>
                        </a:rPr>
                        <a:t>20% ⚠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5294A"/>
                    </a:solidFill>
                  </a:tcPr>
                </a:tc>
              </a:tr>
            </a:tbl>
          </a:graphicData>
        </a:graphic>
      </p:graphicFrame>
      <p:sp>
        <p:nvSpPr>
          <p:cNvPr id="249" name="Google Shape;249;p7"/>
          <p:cNvSpPr/>
          <p:nvPr/>
        </p:nvSpPr>
        <p:spPr>
          <a:xfrm>
            <a:off x="182880" y="3840480"/>
            <a:ext cx="87782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5252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FF5252"/>
                </a:solidFill>
                <a:latin typeface="Calibri"/>
                <a:ea typeface="Calibri"/>
                <a:cs typeface="Calibri"/>
                <a:sym typeface="Calibri"/>
              </a:rPr>
              <a:t>Tipos de error inyectados: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7"/>
          <p:cNvSpPr/>
          <p:nvPr/>
        </p:nvSpPr>
        <p:spPr>
          <a:xfrm>
            <a:off x="182880" y="4206240"/>
            <a:ext cx="2834640" cy="685800"/>
          </a:xfrm>
          <a:prstGeom prst="rect">
            <a:avLst/>
          </a:prstGeom>
          <a:solidFill>
            <a:srgbClr val="05294A"/>
          </a:solidFill>
          <a:ln cap="flat" cmpd="sng" w="10150">
            <a:solidFill>
              <a:srgbClr val="FF525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7"/>
          <p:cNvSpPr/>
          <p:nvPr/>
        </p:nvSpPr>
        <p:spPr>
          <a:xfrm>
            <a:off x="274320" y="4233672"/>
            <a:ext cx="2651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5252"/>
              </a:buClr>
              <a:buSzPts val="1000"/>
              <a:buFont typeface="Consolas"/>
              <a:buNone/>
            </a:pPr>
            <a:r>
              <a:rPr b="1" lang="en-US" sz="1000">
                <a:solidFill>
                  <a:srgbClr val="FF5252"/>
                </a:solidFill>
                <a:latin typeface="Consolas"/>
                <a:ea typeface="Consolas"/>
                <a:cs typeface="Consolas"/>
                <a:sym typeface="Consolas"/>
              </a:rPr>
              <a:t>fuera_rango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7"/>
          <p:cNvSpPr/>
          <p:nvPr/>
        </p:nvSpPr>
        <p:spPr>
          <a:xfrm>
            <a:off x="274320" y="4480560"/>
            <a:ext cx="26517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Valor físicamente imposible en un campo aleatorio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7"/>
          <p:cNvSpPr/>
          <p:nvPr/>
        </p:nvSpPr>
        <p:spPr>
          <a:xfrm>
            <a:off x="3172968" y="4206240"/>
            <a:ext cx="2834640" cy="685800"/>
          </a:xfrm>
          <a:prstGeom prst="rect">
            <a:avLst/>
          </a:prstGeom>
          <a:solidFill>
            <a:srgbClr val="05294A"/>
          </a:solidFill>
          <a:ln cap="flat" cmpd="sng" w="10150">
            <a:solidFill>
              <a:srgbClr val="FF525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7"/>
          <p:cNvSpPr/>
          <p:nvPr/>
        </p:nvSpPr>
        <p:spPr>
          <a:xfrm>
            <a:off x="3264408" y="4233672"/>
            <a:ext cx="2651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5252"/>
              </a:buClr>
              <a:buSzPts val="1000"/>
              <a:buFont typeface="Consolas"/>
              <a:buNone/>
            </a:pPr>
            <a:r>
              <a:rPr b="1" lang="en-US" sz="1000">
                <a:solidFill>
                  <a:srgbClr val="FF5252"/>
                </a:solidFill>
                <a:latin typeface="Consolas"/>
                <a:ea typeface="Consolas"/>
                <a:cs typeface="Consolas"/>
                <a:sym typeface="Consolas"/>
              </a:rPr>
              <a:t>marcado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7"/>
          <p:cNvSpPr/>
          <p:nvPr/>
        </p:nvSpPr>
        <p:spPr>
          <a:xfrm>
            <a:off x="3264408" y="4480560"/>
            <a:ext cx="26517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es_erroneo: True — el generador avisa al concentrador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7"/>
          <p:cNvSpPr/>
          <p:nvPr/>
        </p:nvSpPr>
        <p:spPr>
          <a:xfrm>
            <a:off x="6163056" y="4206240"/>
            <a:ext cx="2834640" cy="685800"/>
          </a:xfrm>
          <a:prstGeom prst="rect">
            <a:avLst/>
          </a:prstGeom>
          <a:solidFill>
            <a:srgbClr val="05294A"/>
          </a:solidFill>
          <a:ln cap="flat" cmpd="sng" w="10150">
            <a:solidFill>
              <a:srgbClr val="FF525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7"/>
          <p:cNvSpPr/>
          <p:nvPr/>
        </p:nvSpPr>
        <p:spPr>
          <a:xfrm>
            <a:off x="6254496" y="4233672"/>
            <a:ext cx="2651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5252"/>
              </a:buClr>
              <a:buSzPts val="1000"/>
              <a:buFont typeface="Consolas"/>
              <a:buNone/>
            </a:pPr>
            <a:r>
              <a:rPr b="1" lang="en-US" sz="1000">
                <a:solidFill>
                  <a:srgbClr val="FF5252"/>
                </a:solidFill>
                <a:latin typeface="Consolas"/>
                <a:ea typeface="Consolas"/>
                <a:cs typeface="Consolas"/>
                <a:sym typeface="Consolas"/>
              </a:rPr>
              <a:t>negativo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7"/>
          <p:cNvSpPr/>
          <p:nvPr/>
        </p:nvSpPr>
        <p:spPr>
          <a:xfrm>
            <a:off x="6254496" y="4480560"/>
            <a:ext cx="26517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Valor negativo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4101E"/>
        </a:solid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8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A7EA4"/>
          </a:solidFill>
          <a:ln cap="flat" cmpd="sng" w="12700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8"/>
          <p:cNvSpPr/>
          <p:nvPr/>
        </p:nvSpPr>
        <p:spPr>
          <a:xfrm>
            <a:off x="320040" y="256032"/>
            <a:ext cx="8503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b="1" lang="en-US" sz="2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06-07 · Panel web y seguridad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8"/>
          <p:cNvSpPr/>
          <p:nvPr/>
        </p:nvSpPr>
        <p:spPr>
          <a:xfrm>
            <a:off x="182880" y="868680"/>
            <a:ext cx="5029200" cy="3931920"/>
          </a:xfrm>
          <a:prstGeom prst="rect">
            <a:avLst/>
          </a:prstGeom>
          <a:solidFill>
            <a:srgbClr val="071A2E"/>
          </a:solidFill>
          <a:ln cap="flat" cmpd="sng" w="9525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8"/>
          <p:cNvSpPr/>
          <p:nvPr/>
        </p:nvSpPr>
        <p:spPr>
          <a:xfrm>
            <a:off x="182880" y="868680"/>
            <a:ext cx="5029200" cy="320040"/>
          </a:xfrm>
          <a:prstGeom prst="rect">
            <a:avLst/>
          </a:prstGeom>
          <a:solidFill>
            <a:srgbClr val="0A7EA4"/>
          </a:solidFill>
          <a:ln cap="flat" cmpd="sng" w="12700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8"/>
          <p:cNvSpPr/>
          <p:nvPr/>
        </p:nvSpPr>
        <p:spPr>
          <a:xfrm>
            <a:off x="182880" y="86868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Panel Web en Tiempo Real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8"/>
          <p:cNvSpPr/>
          <p:nvPr/>
        </p:nvSpPr>
        <p:spPr>
          <a:xfrm>
            <a:off x="320040" y="1261872"/>
            <a:ext cx="4754880" cy="2286000"/>
          </a:xfrm>
          <a:prstGeom prst="rect">
            <a:avLst/>
          </a:prstGeom>
          <a:solidFill>
            <a:srgbClr val="05294A"/>
          </a:solidFill>
          <a:ln cap="flat" cmpd="sng" w="12700">
            <a:solidFill>
              <a:srgbClr val="00C8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8"/>
          <p:cNvSpPr/>
          <p:nvPr/>
        </p:nvSpPr>
        <p:spPr>
          <a:xfrm>
            <a:off x="370265" y="1280172"/>
            <a:ext cx="47550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[ CAPTURA DEL PANEL WEB ]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Insertar aquí screenshot de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http://localhost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8"/>
          <p:cNvSpPr/>
          <p:nvPr/>
        </p:nvSpPr>
        <p:spPr>
          <a:xfrm>
            <a:off x="365760" y="3657600"/>
            <a:ext cx="47548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→ </a:t>
            </a:r>
            <a:r>
              <a:rPr lang="en-US" sz="9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KPIs: potencia total, aceptados, rechazados, tasa error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8"/>
          <p:cNvSpPr/>
          <p:nvPr/>
        </p:nvSpPr>
        <p:spPr>
          <a:xfrm>
            <a:off x="365760" y="3886200"/>
            <a:ext cx="47548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→ </a:t>
            </a:r>
            <a:r>
              <a:rPr lang="en-US" sz="9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Grid de 10 turbinas con estado y potencia en tiempo real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8"/>
          <p:cNvSpPr/>
          <p:nvPr/>
        </p:nvSpPr>
        <p:spPr>
          <a:xfrm>
            <a:off x="365760" y="4114800"/>
            <a:ext cx="47548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→ </a:t>
            </a:r>
            <a:r>
              <a:rPr lang="en-US" sz="9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Gráfico de barras de potencia por turbina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8"/>
          <p:cNvSpPr/>
          <p:nvPr/>
        </p:nvSpPr>
        <p:spPr>
          <a:xfrm>
            <a:off x="365760" y="4343400"/>
            <a:ext cx="47548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→ </a:t>
            </a:r>
            <a:r>
              <a:rPr lang="en-US" sz="9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Log en vivo de datos aceptados y rechazados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8"/>
          <p:cNvSpPr/>
          <p:nvPr/>
        </p:nvSpPr>
        <p:spPr>
          <a:xfrm>
            <a:off x="365760" y="4572000"/>
            <a:ext cx="47548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→ </a:t>
            </a:r>
            <a:r>
              <a:rPr lang="en-US" sz="9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Tabla de últimos rechazos con motivo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8"/>
          <p:cNvSpPr/>
          <p:nvPr/>
        </p:nvSpPr>
        <p:spPr>
          <a:xfrm>
            <a:off x="5394960" y="868680"/>
            <a:ext cx="3566160" cy="1828800"/>
          </a:xfrm>
          <a:prstGeom prst="rect">
            <a:avLst/>
          </a:prstGeom>
          <a:solidFill>
            <a:srgbClr val="071A2E"/>
          </a:solidFill>
          <a:ln cap="flat" cmpd="sng" w="9525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8"/>
          <p:cNvSpPr/>
          <p:nvPr/>
        </p:nvSpPr>
        <p:spPr>
          <a:xfrm>
            <a:off x="5394960" y="868680"/>
            <a:ext cx="3566160" cy="320040"/>
          </a:xfrm>
          <a:prstGeom prst="rect">
            <a:avLst/>
          </a:prstGeom>
          <a:solidFill>
            <a:srgbClr val="2E7D32"/>
          </a:solidFill>
          <a:ln cap="flat" cmpd="sng" w="12700">
            <a:solidFill>
              <a:srgbClr val="2E7D3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78" name="Google Shape;278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40680" y="896112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Google Shape;279;p8"/>
          <p:cNvSpPr/>
          <p:nvPr/>
        </p:nvSpPr>
        <p:spPr>
          <a:xfrm>
            <a:off x="5742432" y="868680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Seguridad: API Key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8"/>
          <p:cNvSpPr/>
          <p:nvPr/>
        </p:nvSpPr>
        <p:spPr>
          <a:xfrm>
            <a:off x="5532120" y="1261872"/>
            <a:ext cx="32918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Cada turbina incluye en la cabecera HTTP:</a:t>
            </a:r>
            <a:br>
              <a:rPr lang="en-US" sz="10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000">
                <a:solidFill>
                  <a:srgbClr val="00C8FF"/>
                </a:solidFill>
                <a:latin typeface="Consolas"/>
                <a:ea typeface="Consolas"/>
                <a:cs typeface="Consolas"/>
                <a:sym typeface="Consolas"/>
              </a:rPr>
              <a:t>x-api-key: parque_eolico_secreto</a:t>
            </a:r>
            <a:br>
              <a:rPr lang="en-US" sz="1000">
                <a:solidFill>
                  <a:srgbClr val="00C8FF"/>
                </a:solidFill>
                <a:latin typeface="Consolas"/>
                <a:ea typeface="Consolas"/>
                <a:cs typeface="Consolas"/>
                <a:sym typeface="Consolas"/>
              </a:rPr>
            </a:br>
            <a:br>
              <a:rPr lang="en-US" sz="1000">
                <a:solidFill>
                  <a:srgbClr val="00C8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-US" sz="10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Sin la clave → 401 Unauthorized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Con clave incorrecta → acceso denegado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8"/>
          <p:cNvSpPr/>
          <p:nvPr/>
        </p:nvSpPr>
        <p:spPr>
          <a:xfrm>
            <a:off x="5394960" y="2834640"/>
            <a:ext cx="3566160" cy="1965960"/>
          </a:xfrm>
          <a:prstGeom prst="rect">
            <a:avLst/>
          </a:prstGeom>
          <a:solidFill>
            <a:srgbClr val="071A2E"/>
          </a:solidFill>
          <a:ln cap="flat" cmpd="sng" w="9525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8"/>
          <p:cNvSpPr/>
          <p:nvPr/>
        </p:nvSpPr>
        <p:spPr>
          <a:xfrm>
            <a:off x="5394960" y="2834640"/>
            <a:ext cx="3566160" cy="320040"/>
          </a:xfrm>
          <a:prstGeom prst="rect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83" name="Google Shape;283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40680" y="2862072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Google Shape;284;p8"/>
          <p:cNvSpPr/>
          <p:nvPr/>
        </p:nvSpPr>
        <p:spPr>
          <a:xfrm>
            <a:off x="5742432" y="2834640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Persistencia: PostgreSQL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8"/>
          <p:cNvSpPr/>
          <p:nvPr/>
        </p:nvSpPr>
        <p:spPr>
          <a:xfrm>
            <a:off x="5532120" y="3246120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950"/>
              <a:buFont typeface="Consolas"/>
              <a:buNone/>
            </a:pPr>
            <a:r>
              <a:rPr b="1" lang="en-US" sz="950">
                <a:solidFill>
                  <a:srgbClr val="00C8FF"/>
                </a:solidFill>
                <a:latin typeface="Consolas"/>
                <a:ea typeface="Consolas"/>
                <a:cs typeface="Consolas"/>
                <a:sym typeface="Consolas"/>
              </a:rPr>
              <a:t>lecturas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8"/>
          <p:cNvSpPr/>
          <p:nvPr/>
        </p:nvSpPr>
        <p:spPr>
          <a:xfrm>
            <a:off x="7406640" y="3246120"/>
            <a:ext cx="1463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Todas las lecturas válidas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8"/>
          <p:cNvSpPr/>
          <p:nvPr/>
        </p:nvSpPr>
        <p:spPr>
          <a:xfrm>
            <a:off x="5532120" y="3721608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950"/>
              <a:buFont typeface="Consolas"/>
              <a:buNone/>
            </a:pPr>
            <a:r>
              <a:rPr b="1" lang="en-US" sz="950">
                <a:solidFill>
                  <a:srgbClr val="00C8FF"/>
                </a:solidFill>
                <a:latin typeface="Consolas"/>
                <a:ea typeface="Consolas"/>
                <a:cs typeface="Consolas"/>
                <a:sym typeface="Consolas"/>
              </a:rPr>
              <a:t>rechazados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8"/>
          <p:cNvSpPr/>
          <p:nvPr/>
        </p:nvSpPr>
        <p:spPr>
          <a:xfrm>
            <a:off x="7406640" y="3721608"/>
            <a:ext cx="1463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Datos inválidos + motivo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8"/>
          <p:cNvSpPr/>
          <p:nvPr/>
        </p:nvSpPr>
        <p:spPr>
          <a:xfrm>
            <a:off x="5532120" y="4197096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950"/>
              <a:buFont typeface="Consolas"/>
              <a:buNone/>
            </a:pPr>
            <a:r>
              <a:rPr b="1" lang="en-US" sz="950">
                <a:solidFill>
                  <a:srgbClr val="00C8FF"/>
                </a:solidFill>
                <a:latin typeface="Consolas"/>
                <a:ea typeface="Consolas"/>
                <a:cs typeface="Consolas"/>
                <a:sym typeface="Consolas"/>
              </a:rPr>
              <a:t>agregados_minutales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8"/>
          <p:cNvSpPr/>
          <p:nvPr/>
        </p:nvSpPr>
        <p:spPr>
          <a:xfrm>
            <a:off x="7406640" y="4197096"/>
            <a:ext cx="1463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Media/total por turbina/min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4101E"/>
        </a:solidFill>
      </p:bgPr>
    </p:bg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9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A7EA4"/>
          </a:solidFill>
          <a:ln cap="flat" cmpd="sng" w="12700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9"/>
          <p:cNvSpPr/>
          <p:nvPr/>
        </p:nvSpPr>
        <p:spPr>
          <a:xfrm>
            <a:off x="320040" y="256032"/>
            <a:ext cx="8503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b="1" lang="en-US" sz="2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Docker Compose 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9"/>
          <p:cNvSpPr/>
          <p:nvPr/>
        </p:nvSpPr>
        <p:spPr>
          <a:xfrm>
            <a:off x="4617720" y="822960"/>
            <a:ext cx="4343400" cy="914400"/>
          </a:xfrm>
          <a:prstGeom prst="rect">
            <a:avLst/>
          </a:prstGeom>
          <a:solidFill>
            <a:srgbClr val="05294A"/>
          </a:solidFill>
          <a:ln cap="flat" cmpd="sng" w="10150">
            <a:solidFill>
              <a:srgbClr val="00C8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9"/>
          <p:cNvSpPr/>
          <p:nvPr/>
        </p:nvSpPr>
        <p:spPr>
          <a:xfrm>
            <a:off x="4617720" y="822960"/>
            <a:ext cx="54864" cy="914400"/>
          </a:xfrm>
          <a:prstGeom prst="rect">
            <a:avLst/>
          </a:prstGeom>
          <a:solidFill>
            <a:srgbClr val="00C8FF"/>
          </a:solidFill>
          <a:ln cap="flat" cmpd="sng" w="12700">
            <a:solidFill>
              <a:srgbClr val="00C8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9"/>
          <p:cNvSpPr/>
          <p:nvPr/>
        </p:nvSpPr>
        <p:spPr>
          <a:xfrm>
            <a:off x="4754880" y="86868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1 imagen, 10 comportamientos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9"/>
          <p:cNvSpPr/>
          <p:nvPr/>
        </p:nvSpPr>
        <p:spPr>
          <a:xfrm>
            <a:off x="4754880" y="1207008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Todos los generadores usan el mismo Dockerfile pero con variables de entorno distintas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9"/>
          <p:cNvSpPr/>
          <p:nvPr/>
        </p:nvSpPr>
        <p:spPr>
          <a:xfrm>
            <a:off x="4617720" y="1847088"/>
            <a:ext cx="4343400" cy="914400"/>
          </a:xfrm>
          <a:prstGeom prst="rect">
            <a:avLst/>
          </a:prstGeom>
          <a:solidFill>
            <a:srgbClr val="05294A"/>
          </a:solidFill>
          <a:ln cap="flat" cmpd="sng" w="10150">
            <a:solidFill>
              <a:srgbClr val="00D6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9"/>
          <p:cNvSpPr/>
          <p:nvPr/>
        </p:nvSpPr>
        <p:spPr>
          <a:xfrm>
            <a:off x="4617720" y="1847088"/>
            <a:ext cx="54864" cy="914400"/>
          </a:xfrm>
          <a:prstGeom prst="rect">
            <a:avLst/>
          </a:prstGeom>
          <a:solidFill>
            <a:srgbClr val="00D68F"/>
          </a:solidFill>
          <a:ln cap="flat" cmpd="sng" w="12700">
            <a:solidFill>
              <a:srgbClr val="00D6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9"/>
          <p:cNvSpPr/>
          <p:nvPr/>
        </p:nvSpPr>
        <p:spPr>
          <a:xfrm>
            <a:off x="4754880" y="1892808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68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00D68F"/>
                </a:solidFill>
                <a:latin typeface="Calibri"/>
                <a:ea typeface="Calibri"/>
                <a:cs typeface="Calibri"/>
                <a:sym typeface="Calibri"/>
              </a:rPr>
              <a:t>depends_on asegura el orden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9"/>
          <p:cNvSpPr/>
          <p:nvPr/>
        </p:nvSpPr>
        <p:spPr>
          <a:xfrm>
            <a:off x="4754880" y="2231136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Las turbinas esperan al concentrador. El concentrador espera a base_datos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9"/>
          <p:cNvSpPr/>
          <p:nvPr/>
        </p:nvSpPr>
        <p:spPr>
          <a:xfrm>
            <a:off x="4617720" y="2871216"/>
            <a:ext cx="4343400" cy="914400"/>
          </a:xfrm>
          <a:prstGeom prst="rect">
            <a:avLst/>
          </a:prstGeom>
          <a:solidFill>
            <a:srgbClr val="05294A"/>
          </a:solidFill>
          <a:ln cap="flat" cmpd="sng" w="10150">
            <a:solidFill>
              <a:srgbClr val="FFD7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9"/>
          <p:cNvSpPr/>
          <p:nvPr/>
        </p:nvSpPr>
        <p:spPr>
          <a:xfrm>
            <a:off x="4617720" y="2871216"/>
            <a:ext cx="54864" cy="914400"/>
          </a:xfrm>
          <a:prstGeom prst="rect">
            <a:avLst/>
          </a:prstGeom>
          <a:solidFill>
            <a:srgbClr val="FFD740"/>
          </a:solidFill>
          <a:ln cap="flat" cmpd="sng" w="12700">
            <a:solidFill>
              <a:srgbClr val="FFD7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9"/>
          <p:cNvSpPr/>
          <p:nvPr/>
        </p:nvSpPr>
        <p:spPr>
          <a:xfrm>
            <a:off x="4754880" y="2916936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40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FFD740"/>
                </a:solidFill>
                <a:latin typeface="Calibri"/>
                <a:ea typeface="Calibri"/>
                <a:cs typeface="Calibri"/>
                <a:sym typeface="Calibri"/>
              </a:rPr>
              <a:t>Volumen nombrado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9"/>
          <p:cNvSpPr/>
          <p:nvPr/>
        </p:nvSpPr>
        <p:spPr>
          <a:xfrm>
            <a:off x="4754880" y="3255264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volumen_postgres persiste los datos. docker compose down no los borra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9"/>
          <p:cNvSpPr/>
          <p:nvPr/>
        </p:nvSpPr>
        <p:spPr>
          <a:xfrm>
            <a:off x="4617720" y="3895344"/>
            <a:ext cx="4343400" cy="914400"/>
          </a:xfrm>
          <a:prstGeom prst="rect">
            <a:avLst/>
          </a:prstGeom>
          <a:solidFill>
            <a:srgbClr val="05294A"/>
          </a:solidFill>
          <a:ln cap="flat" cmpd="sng" w="10150">
            <a:solidFill>
              <a:srgbClr val="7BA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9"/>
          <p:cNvSpPr/>
          <p:nvPr/>
        </p:nvSpPr>
        <p:spPr>
          <a:xfrm>
            <a:off x="4617720" y="3895344"/>
            <a:ext cx="54864" cy="914400"/>
          </a:xfrm>
          <a:prstGeom prst="rect">
            <a:avLst/>
          </a:prstGeom>
          <a:solidFill>
            <a:srgbClr val="7BAFC8"/>
          </a:solidFill>
          <a:ln cap="flat" cmpd="sng" w="12700">
            <a:solidFill>
              <a:srgbClr val="7BA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9"/>
          <p:cNvSpPr/>
          <p:nvPr/>
        </p:nvSpPr>
        <p:spPr>
          <a:xfrm>
            <a:off x="4754880" y="3941064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PYTHONUNBUFFERED=1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9"/>
          <p:cNvSpPr/>
          <p:nvPr/>
        </p:nvSpPr>
        <p:spPr>
          <a:xfrm>
            <a:off x="4754880" y="4279392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Los prints aparecen al instante en los logs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4" name="Google Shape;314;p9"/>
          <p:cNvGrpSpPr/>
          <p:nvPr/>
        </p:nvGrpSpPr>
        <p:grpSpPr>
          <a:xfrm>
            <a:off x="833035" y="713237"/>
            <a:ext cx="3006527" cy="4289280"/>
            <a:chOff x="182300" y="822950"/>
            <a:chExt cx="2949890" cy="4208478"/>
          </a:xfrm>
        </p:grpSpPr>
        <p:pic>
          <p:nvPicPr>
            <p:cNvPr id="315" name="Google Shape;315;p9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83650" y="822950"/>
              <a:ext cx="2948540" cy="20939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16" name="Google Shape;316;p9"/>
            <p:cNvPicPr preferRelativeResize="0"/>
            <p:nvPr/>
          </p:nvPicPr>
          <p:blipFill rotWithShape="1">
            <a:blip r:embed="rId4">
              <a:alphaModFix/>
            </a:blip>
            <a:srcRect b="0" l="0" r="11087" t="0"/>
            <a:stretch/>
          </p:blipFill>
          <p:spPr>
            <a:xfrm>
              <a:off x="182300" y="2916925"/>
              <a:ext cx="2948550" cy="2114502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4101E"/>
        </a:solidFill>
      </p:bgPr>
    </p:bg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2" name="Google Shape;322;g39683255e89_0_2"/>
          <p:cNvGrpSpPr/>
          <p:nvPr/>
        </p:nvGrpSpPr>
        <p:grpSpPr>
          <a:xfrm>
            <a:off x="3291895" y="1657345"/>
            <a:ext cx="2560200" cy="1828800"/>
            <a:chOff x="3337570" y="1657345"/>
            <a:chExt cx="2560200" cy="1828800"/>
          </a:xfrm>
        </p:grpSpPr>
        <p:sp>
          <p:nvSpPr>
            <p:cNvPr id="323" name="Google Shape;323;g39683255e89_0_2"/>
            <p:cNvSpPr/>
            <p:nvPr/>
          </p:nvSpPr>
          <p:spPr>
            <a:xfrm>
              <a:off x="3337570" y="1657345"/>
              <a:ext cx="2560200" cy="1828800"/>
            </a:xfrm>
            <a:prstGeom prst="rect">
              <a:avLst/>
            </a:prstGeom>
            <a:solidFill>
              <a:srgbClr val="05294A"/>
            </a:solidFill>
            <a:ln cap="flat" cmpd="sng" w="12700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101600" rotWithShape="0" algn="bl" dir="8100000" dist="25400">
                <a:srgbClr val="94A3B8">
                  <a:alpha val="149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4" name="Google Shape;324;g39683255e89_0_2"/>
            <p:cNvSpPr/>
            <p:nvPr/>
          </p:nvSpPr>
          <p:spPr>
            <a:xfrm>
              <a:off x="3337570" y="1657345"/>
              <a:ext cx="2560200" cy="50400"/>
            </a:xfrm>
            <a:prstGeom prst="rect">
              <a:avLst/>
            </a:prstGeom>
            <a:solidFill>
              <a:srgbClr val="D97706"/>
            </a:solidFill>
            <a:ln cap="flat" cmpd="sng" w="12700">
              <a:solidFill>
                <a:srgbClr val="D9770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5" name="Google Shape;325;g39683255e89_0_2"/>
            <p:cNvSpPr/>
            <p:nvPr/>
          </p:nvSpPr>
          <p:spPr>
            <a:xfrm>
              <a:off x="3447298" y="1748785"/>
              <a:ext cx="2340900" cy="43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D97706"/>
                </a:buClr>
                <a:buSzPts val="1100"/>
                <a:buFont typeface="Calibri"/>
                <a:buNone/>
              </a:pPr>
              <a:r>
                <a:rPr b="1" i="0" lang="en-US" sz="1100" u="none" cap="none" strike="noStrike">
                  <a:solidFill>
                    <a:srgbClr val="D97706"/>
                  </a:solidFill>
                  <a:latin typeface="Calibri"/>
                  <a:ea typeface="Calibri"/>
                  <a:cs typeface="Calibri"/>
                  <a:sym typeface="Calibri"/>
                </a:rPr>
                <a:t>🔔  Sistema de alertas</a:t>
              </a:r>
              <a:endPara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6" name="Google Shape;326;g39683255e89_0_2"/>
            <p:cNvSpPr/>
            <p:nvPr/>
          </p:nvSpPr>
          <p:spPr>
            <a:xfrm>
              <a:off x="3447298" y="2205985"/>
              <a:ext cx="2340900" cy="18300"/>
            </a:xfrm>
            <a:prstGeom prst="rect">
              <a:avLst/>
            </a:prstGeom>
            <a:solidFill>
              <a:srgbClr val="CBD5E1"/>
            </a:solidFill>
            <a:ln cap="flat" cmpd="sng" w="12700">
              <a:solidFill>
                <a:srgbClr val="CBD5E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7" name="Google Shape;327;g39683255e89_0_2"/>
            <p:cNvSpPr/>
            <p:nvPr/>
          </p:nvSpPr>
          <p:spPr>
            <a:xfrm>
              <a:off x="3447298" y="2279137"/>
              <a:ext cx="2340900" cy="109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75569"/>
                </a:buClr>
                <a:buSzPts val="1000"/>
                <a:buFont typeface="Calibri"/>
                <a:buNone/>
              </a:pPr>
              <a:r>
                <a:rPr b="0" i="0" lang="en-US" sz="10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Notificaciones automáticas cuando los valores </a:t>
              </a:r>
              <a:r>
                <a:rPr lang="en-US" sz="1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superen umbrales</a:t>
              </a:r>
              <a:r>
                <a:rPr b="0" i="0" lang="en-US" sz="10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b="0" i="0" sz="1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8" name="Google Shape;328;g39683255e89_0_2"/>
          <p:cNvGrpSpPr/>
          <p:nvPr/>
        </p:nvGrpSpPr>
        <p:grpSpPr>
          <a:xfrm>
            <a:off x="6281800" y="1657350"/>
            <a:ext cx="2560200" cy="1820025"/>
            <a:chOff x="6281800" y="1657350"/>
            <a:chExt cx="2560200" cy="1820025"/>
          </a:xfrm>
        </p:grpSpPr>
        <p:sp>
          <p:nvSpPr>
            <p:cNvPr id="329" name="Google Shape;329;g39683255e89_0_2"/>
            <p:cNvSpPr/>
            <p:nvPr/>
          </p:nvSpPr>
          <p:spPr>
            <a:xfrm>
              <a:off x="6286598" y="1698975"/>
              <a:ext cx="2555400" cy="1778400"/>
            </a:xfrm>
            <a:prstGeom prst="rect">
              <a:avLst/>
            </a:prstGeom>
            <a:solidFill>
              <a:srgbClr val="05294A"/>
            </a:solidFill>
            <a:ln cap="flat" cmpd="sng" w="10150">
              <a:solidFill>
                <a:srgbClr val="00D68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0" name="Google Shape;330;g39683255e89_0_2"/>
            <p:cNvSpPr/>
            <p:nvPr/>
          </p:nvSpPr>
          <p:spPr>
            <a:xfrm>
              <a:off x="6281800" y="1657350"/>
              <a:ext cx="2560200" cy="71100"/>
            </a:xfrm>
            <a:prstGeom prst="rect">
              <a:avLst/>
            </a:prstGeom>
            <a:solidFill>
              <a:srgbClr val="00D68F"/>
            </a:solidFill>
            <a:ln cap="flat" cmpd="sng" w="12700">
              <a:solidFill>
                <a:srgbClr val="00D68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" name="Google Shape;331;g39683255e89_0_2"/>
            <p:cNvSpPr/>
            <p:nvPr/>
          </p:nvSpPr>
          <p:spPr>
            <a:xfrm>
              <a:off x="6391533" y="1748790"/>
              <a:ext cx="2340900" cy="43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059669"/>
                </a:buClr>
                <a:buSzPts val="1100"/>
                <a:buFont typeface="Calibri"/>
                <a:buNone/>
              </a:pPr>
              <a:r>
                <a:rPr b="1" i="0" lang="en-US" sz="1100" u="none" cap="none" strike="noStrike">
                  <a:solidFill>
                    <a:srgbClr val="00D68F"/>
                  </a:solidFill>
                  <a:latin typeface="Calibri"/>
                  <a:ea typeface="Calibri"/>
                  <a:cs typeface="Calibri"/>
                  <a:sym typeface="Calibri"/>
                </a:rPr>
                <a:t>🔄  </a:t>
              </a:r>
              <a:r>
                <a:rPr b="1" lang="en-US" sz="1100">
                  <a:solidFill>
                    <a:srgbClr val="00D68F"/>
                  </a:solidFill>
                  <a:latin typeface="Calibri"/>
                  <a:ea typeface="Calibri"/>
                  <a:cs typeface="Calibri"/>
                  <a:sym typeface="Calibri"/>
                </a:rPr>
                <a:t>Websockets</a:t>
              </a:r>
              <a:endParaRPr b="0" i="0" sz="1100" u="none" cap="none" strike="noStrike">
                <a:solidFill>
                  <a:srgbClr val="00D68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2" name="Google Shape;332;g39683255e89_0_2"/>
            <p:cNvSpPr/>
            <p:nvPr/>
          </p:nvSpPr>
          <p:spPr>
            <a:xfrm>
              <a:off x="6391533" y="2205990"/>
              <a:ext cx="2340900" cy="18300"/>
            </a:xfrm>
            <a:prstGeom prst="rect">
              <a:avLst/>
            </a:prstGeom>
            <a:solidFill>
              <a:srgbClr val="CBD5E1"/>
            </a:solidFill>
            <a:ln cap="flat" cmpd="sng" w="12700">
              <a:solidFill>
                <a:srgbClr val="CBD5E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3" name="Google Shape;333;g39683255e89_0_2"/>
            <p:cNvSpPr/>
            <p:nvPr/>
          </p:nvSpPr>
          <p:spPr>
            <a:xfrm>
              <a:off x="6391533" y="2279142"/>
              <a:ext cx="2340900" cy="109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75569"/>
                </a:buClr>
                <a:buSzPts val="1000"/>
                <a:buFont typeface="Calibri"/>
                <a:buNone/>
              </a:pPr>
              <a:r>
                <a:rPr lang="en-US" sz="1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En lugar de polling, para actualizaciones en tiempo real.</a:t>
              </a:r>
              <a:endParaRPr b="0" i="0" sz="1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34" name="Google Shape;334;g39683255e89_0_2"/>
          <p:cNvSpPr/>
          <p:nvPr/>
        </p:nvSpPr>
        <p:spPr>
          <a:xfrm>
            <a:off x="0" y="0"/>
            <a:ext cx="54900" cy="5143500"/>
          </a:xfrm>
          <a:prstGeom prst="rect">
            <a:avLst/>
          </a:prstGeom>
          <a:solidFill>
            <a:srgbClr val="0A7EA4"/>
          </a:solidFill>
          <a:ln cap="flat" cmpd="sng" w="12700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g39683255e89_0_2"/>
          <p:cNvSpPr/>
          <p:nvPr/>
        </p:nvSpPr>
        <p:spPr>
          <a:xfrm>
            <a:off x="320040" y="256032"/>
            <a:ext cx="8503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1B2D5B"/>
              </a:buClr>
              <a:buSzPts val="2600"/>
              <a:buFont typeface="Calibri"/>
              <a:buNone/>
            </a:pPr>
            <a:r>
              <a:rPr b="1" lang="en-US" sz="2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08 · Posibles Vías de Mejora</a:t>
            </a:r>
            <a:endParaRPr b="1" sz="24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36" name="Google Shape;336;g39683255e89_0_2"/>
          <p:cNvGrpSpPr/>
          <p:nvPr/>
        </p:nvGrpSpPr>
        <p:grpSpPr>
          <a:xfrm>
            <a:off x="301984" y="1654022"/>
            <a:ext cx="2560216" cy="1826678"/>
            <a:chOff x="502909" y="1659472"/>
            <a:chExt cx="2560216" cy="1826678"/>
          </a:xfrm>
        </p:grpSpPr>
        <p:sp>
          <p:nvSpPr>
            <p:cNvPr id="337" name="Google Shape;337;g39683255e89_0_2"/>
            <p:cNvSpPr/>
            <p:nvPr/>
          </p:nvSpPr>
          <p:spPr>
            <a:xfrm>
              <a:off x="502925" y="1707750"/>
              <a:ext cx="2560200" cy="1778400"/>
            </a:xfrm>
            <a:prstGeom prst="rect">
              <a:avLst/>
            </a:prstGeom>
            <a:solidFill>
              <a:srgbClr val="05294A"/>
            </a:solidFill>
            <a:ln cap="flat" cmpd="sng" w="10150">
              <a:solidFill>
                <a:srgbClr val="00C8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8" name="Google Shape;338;g39683255e89_0_2"/>
            <p:cNvSpPr/>
            <p:nvPr/>
          </p:nvSpPr>
          <p:spPr>
            <a:xfrm>
              <a:off x="612658" y="1748785"/>
              <a:ext cx="2340900" cy="43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2563EB"/>
                </a:buClr>
                <a:buSzPts val="1100"/>
                <a:buFont typeface="Calibri"/>
                <a:buNone/>
              </a:pPr>
              <a:r>
                <a:rPr b="1" i="0" lang="en-US" sz="1100" u="none" cap="none" strike="noStrike">
                  <a:solidFill>
                    <a:srgbClr val="00C8FF"/>
                  </a:solidFill>
                  <a:latin typeface="Calibri"/>
                  <a:ea typeface="Calibri"/>
                  <a:cs typeface="Calibri"/>
                  <a:sym typeface="Calibri"/>
                </a:rPr>
                <a:t>📊  </a:t>
              </a:r>
              <a:r>
                <a:rPr b="1" lang="en-US" sz="1100">
                  <a:solidFill>
                    <a:srgbClr val="00C8FF"/>
                  </a:solidFill>
                  <a:latin typeface="Calibri"/>
                  <a:ea typeface="Calibri"/>
                  <a:cs typeface="Calibri"/>
                  <a:sym typeface="Calibri"/>
                </a:rPr>
                <a:t>Grafana + InfluxDB </a:t>
              </a:r>
              <a:endParaRPr b="0" i="0" sz="1100" u="none" cap="none" strike="noStrike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9" name="Google Shape;339;g39683255e89_0_2"/>
            <p:cNvSpPr/>
            <p:nvPr/>
          </p:nvSpPr>
          <p:spPr>
            <a:xfrm>
              <a:off x="612658" y="2205985"/>
              <a:ext cx="2340900" cy="18300"/>
            </a:xfrm>
            <a:prstGeom prst="rect">
              <a:avLst/>
            </a:prstGeom>
            <a:solidFill>
              <a:srgbClr val="CBD5E1"/>
            </a:solidFill>
            <a:ln cap="flat" cmpd="sng" w="12700">
              <a:solidFill>
                <a:srgbClr val="CBD5E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0" name="Google Shape;340;g39683255e89_0_2"/>
            <p:cNvSpPr/>
            <p:nvPr/>
          </p:nvSpPr>
          <p:spPr>
            <a:xfrm>
              <a:off x="612658" y="2279137"/>
              <a:ext cx="2340900" cy="109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75569"/>
                </a:buClr>
                <a:buSzPts val="1000"/>
                <a:buFont typeface="Calibri"/>
                <a:buNone/>
              </a:pPr>
              <a:r>
                <a:rPr b="0" i="0" lang="en-US" sz="10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Integrar Grafana conectado a </a:t>
              </a:r>
              <a:r>
                <a:rPr lang="en-US" sz="1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InfluxDB </a:t>
              </a:r>
              <a:r>
                <a:rPr b="0" i="0" lang="en-US" sz="10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para una visualiza</a:t>
              </a:r>
              <a:r>
                <a:rPr lang="en-US" sz="1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ción</a:t>
              </a:r>
              <a:r>
                <a:rPr b="0" i="0" lang="en-US" sz="10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avanzada.</a:t>
              </a:r>
              <a:endParaRPr b="0" i="0" sz="1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g39683255e89_0_2"/>
            <p:cNvSpPr/>
            <p:nvPr/>
          </p:nvSpPr>
          <p:spPr>
            <a:xfrm rot="5400000">
              <a:off x="1745059" y="417322"/>
              <a:ext cx="71100" cy="2555400"/>
            </a:xfrm>
            <a:prstGeom prst="rect">
              <a:avLst/>
            </a:prstGeom>
            <a:solidFill>
              <a:srgbClr val="00C8FF"/>
            </a:solidFill>
            <a:ln cap="flat" cmpd="sng" w="12700">
              <a:solidFill>
                <a:srgbClr val="00C8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4101E"/>
        </a:solidFill>
      </p:bgPr>
    </p:bg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39683255e89_0_41"/>
          <p:cNvSpPr/>
          <p:nvPr/>
        </p:nvSpPr>
        <p:spPr>
          <a:xfrm>
            <a:off x="502920" y="164592"/>
            <a:ext cx="84126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D5B"/>
              </a:buClr>
              <a:buSzPts val="2600"/>
              <a:buFont typeface="Calibri"/>
              <a:buNone/>
            </a:pPr>
            <a:r>
              <a:rPr b="1" i="0" lang="en-US" sz="2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b="1" lang="en-US" sz="2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r>
              <a:rPr b="1" i="0" lang="en-US" sz="2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· Problemas y Retos Encontrados</a:t>
            </a:r>
            <a:endParaRPr b="0" i="0" sz="2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g39683255e89_0_41"/>
          <p:cNvSpPr/>
          <p:nvPr/>
        </p:nvSpPr>
        <p:spPr>
          <a:xfrm>
            <a:off x="525880" y="1097273"/>
            <a:ext cx="8366700" cy="713100"/>
          </a:xfrm>
          <a:prstGeom prst="rect">
            <a:avLst/>
          </a:prstGeom>
          <a:solidFill>
            <a:srgbClr val="05294A"/>
          </a:solidFill>
          <a:ln cap="flat" cmpd="sng" w="12700">
            <a:solidFill>
              <a:srgbClr val="05294A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94A3B8">
                <a:alpha val="149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rgbClr val="05966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g39683255e89_0_41"/>
          <p:cNvSpPr/>
          <p:nvPr/>
        </p:nvSpPr>
        <p:spPr>
          <a:xfrm>
            <a:off x="525880" y="1097273"/>
            <a:ext cx="50400" cy="713100"/>
          </a:xfrm>
          <a:prstGeom prst="rect">
            <a:avLst/>
          </a:prstGeom>
          <a:solidFill>
            <a:srgbClr val="D97706"/>
          </a:solidFill>
          <a:ln cap="flat" cmpd="sng" w="12700">
            <a:solidFill>
              <a:srgbClr val="D977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g39683255e89_0_41"/>
          <p:cNvSpPr/>
          <p:nvPr/>
        </p:nvSpPr>
        <p:spPr>
          <a:xfrm>
            <a:off x="663040" y="1161281"/>
            <a:ext cx="3474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D5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🔢  </a:t>
            </a:r>
            <a:r>
              <a:rPr b="1" lang="en-US" sz="1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10 contenedores con el mismo Dockerfile</a:t>
            </a:r>
            <a:endParaRPr b="1" sz="11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g39683255e89_0_41"/>
          <p:cNvSpPr/>
          <p:nvPr/>
        </p:nvSpPr>
        <p:spPr>
          <a:xfrm>
            <a:off x="663040" y="1444745"/>
            <a:ext cx="41148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00"/>
              <a:buFont typeface="Calibri"/>
              <a:buNone/>
            </a:pPr>
            <a:r>
              <a:rPr lang="en-US" sz="9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Docker Compose los construye una sola vez  y los lanza con configuración distinta.</a:t>
            </a:r>
            <a:endParaRPr b="0" i="0" sz="900" u="none" cap="none" strike="noStrik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g39683255e89_0_41"/>
          <p:cNvSpPr/>
          <p:nvPr/>
        </p:nvSpPr>
        <p:spPr>
          <a:xfrm>
            <a:off x="525880" y="2203783"/>
            <a:ext cx="8366700" cy="713100"/>
          </a:xfrm>
          <a:prstGeom prst="rect">
            <a:avLst/>
          </a:prstGeom>
          <a:solidFill>
            <a:srgbClr val="05294A"/>
          </a:solidFill>
          <a:ln cap="flat" cmpd="sng" w="12700">
            <a:solidFill>
              <a:srgbClr val="05294A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94A3B8">
                <a:alpha val="149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g39683255e89_0_41"/>
          <p:cNvSpPr/>
          <p:nvPr/>
        </p:nvSpPr>
        <p:spPr>
          <a:xfrm>
            <a:off x="5006440" y="1207001"/>
            <a:ext cx="3794700" cy="512100"/>
          </a:xfrm>
          <a:prstGeom prst="rect">
            <a:avLst/>
          </a:prstGeom>
          <a:solidFill>
            <a:srgbClr val="D1FAE5"/>
          </a:solidFill>
          <a:ln cap="flat" cmpd="sng" w="12700">
            <a:solidFill>
              <a:srgbClr val="0596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rgbClr val="05966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g39683255e89_0_41"/>
          <p:cNvSpPr/>
          <p:nvPr/>
        </p:nvSpPr>
        <p:spPr>
          <a:xfrm>
            <a:off x="5070448" y="1207001"/>
            <a:ext cx="3657600" cy="51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059669"/>
                </a:solidFill>
                <a:latin typeface="Calibri"/>
                <a:ea typeface="Calibri"/>
                <a:cs typeface="Calibri"/>
                <a:sym typeface="Calibri"/>
              </a:rPr>
              <a:t>✅  Inyectamos variables de entorno únicas: POTENCIA_NOMINAL, PROB_ERROR, VIENTO_MEDIO.</a:t>
            </a:r>
            <a:endParaRPr b="1" sz="900">
              <a:solidFill>
                <a:srgbClr val="05966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g39683255e89_0_41"/>
          <p:cNvSpPr/>
          <p:nvPr/>
        </p:nvSpPr>
        <p:spPr>
          <a:xfrm>
            <a:off x="525880" y="2203783"/>
            <a:ext cx="50400" cy="713100"/>
          </a:xfrm>
          <a:prstGeom prst="rect">
            <a:avLst/>
          </a:prstGeom>
          <a:solidFill>
            <a:srgbClr val="D97706"/>
          </a:solidFill>
          <a:ln cap="flat" cmpd="sng" w="12700">
            <a:solidFill>
              <a:srgbClr val="D977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g39683255e89_0_41"/>
          <p:cNvSpPr/>
          <p:nvPr/>
        </p:nvSpPr>
        <p:spPr>
          <a:xfrm>
            <a:off x="663040" y="2267779"/>
            <a:ext cx="3474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D5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⏱️  </a:t>
            </a:r>
            <a:r>
              <a:rPr b="1" lang="en-US" sz="1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Arranque</a:t>
            </a:r>
            <a:endParaRPr b="0" i="0" sz="11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g39683255e89_0_41"/>
          <p:cNvSpPr/>
          <p:nvPr/>
        </p:nvSpPr>
        <p:spPr>
          <a:xfrm>
            <a:off x="663040" y="2551255"/>
            <a:ext cx="41148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00"/>
              <a:buFont typeface="Calibri"/>
              <a:buNone/>
            </a:pPr>
            <a:r>
              <a:rPr lang="en-US" sz="9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PostgreSQL tarda en inicializarse, por lo que el concentrador establece la conexión cuando la BD está lista.</a:t>
            </a:r>
            <a:endParaRPr b="0" i="0" sz="900" u="none" cap="none" strike="noStrik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g39683255e89_0_41"/>
          <p:cNvSpPr/>
          <p:nvPr/>
        </p:nvSpPr>
        <p:spPr>
          <a:xfrm>
            <a:off x="576280" y="3401553"/>
            <a:ext cx="8366700" cy="713100"/>
          </a:xfrm>
          <a:prstGeom prst="rect">
            <a:avLst/>
          </a:prstGeom>
          <a:solidFill>
            <a:srgbClr val="05294A"/>
          </a:solidFill>
          <a:ln cap="flat" cmpd="sng" w="12700">
            <a:solidFill>
              <a:srgbClr val="05294A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94A3B8">
                <a:alpha val="149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100">
              <a:solidFill>
                <a:srgbClr val="1B2D5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g39683255e89_0_41"/>
          <p:cNvSpPr/>
          <p:nvPr/>
        </p:nvSpPr>
        <p:spPr>
          <a:xfrm>
            <a:off x="5006440" y="2313511"/>
            <a:ext cx="3794700" cy="512100"/>
          </a:xfrm>
          <a:prstGeom prst="rect">
            <a:avLst/>
          </a:prstGeom>
          <a:solidFill>
            <a:srgbClr val="D1FAE5"/>
          </a:solidFill>
          <a:ln cap="flat" cmpd="sng" w="12700">
            <a:solidFill>
              <a:srgbClr val="0596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0" name="Google Shape;360;g39683255e89_0_41"/>
          <p:cNvSpPr/>
          <p:nvPr/>
        </p:nvSpPr>
        <p:spPr>
          <a:xfrm>
            <a:off x="5070448" y="2313511"/>
            <a:ext cx="3657600" cy="51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Calibri"/>
                <a:ea typeface="Calibri"/>
                <a:cs typeface="Calibri"/>
                <a:sym typeface="Calibri"/>
              </a:rPr>
              <a:t>✅  </a:t>
            </a:r>
            <a:r>
              <a:rPr b="1" lang="en-US" sz="900">
                <a:solidFill>
                  <a:srgbClr val="059669"/>
                </a:solidFill>
                <a:latin typeface="Calibri"/>
                <a:ea typeface="Calibri"/>
                <a:cs typeface="Calibri"/>
                <a:sym typeface="Calibri"/>
              </a:rPr>
              <a:t>Uso de depends_on en Docker Compose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g39683255e89_0_41"/>
          <p:cNvSpPr/>
          <p:nvPr/>
        </p:nvSpPr>
        <p:spPr>
          <a:xfrm>
            <a:off x="576280" y="3401553"/>
            <a:ext cx="50400" cy="713100"/>
          </a:xfrm>
          <a:prstGeom prst="rect">
            <a:avLst/>
          </a:prstGeom>
          <a:solidFill>
            <a:srgbClr val="D97706"/>
          </a:solidFill>
          <a:ln cap="flat" cmpd="sng" w="12700">
            <a:solidFill>
              <a:srgbClr val="D977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g39683255e89_0_41"/>
          <p:cNvSpPr/>
          <p:nvPr/>
        </p:nvSpPr>
        <p:spPr>
          <a:xfrm>
            <a:off x="713440" y="3465561"/>
            <a:ext cx="3474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D5B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📋  Validación de errores inyectados vs errores de rango</a:t>
            </a:r>
            <a:endParaRPr b="1" sz="11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g39683255e89_0_41"/>
          <p:cNvSpPr/>
          <p:nvPr/>
        </p:nvSpPr>
        <p:spPr>
          <a:xfrm>
            <a:off x="713440" y="3749025"/>
            <a:ext cx="41148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00"/>
              <a:buFont typeface="Calibri"/>
              <a:buNone/>
            </a:pPr>
            <a:r>
              <a:rPr lang="en-US" sz="9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Algunos datos erróneos (por avería) pasan la validación de Pydantic si el valor erróneo está dentro de rango.</a:t>
            </a:r>
            <a:endParaRPr b="0" i="0" sz="900" u="none" cap="none" strike="noStrik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g39683255e89_0_41"/>
          <p:cNvSpPr/>
          <p:nvPr/>
        </p:nvSpPr>
        <p:spPr>
          <a:xfrm>
            <a:off x="0" y="0"/>
            <a:ext cx="54900" cy="5143500"/>
          </a:xfrm>
          <a:prstGeom prst="rect">
            <a:avLst/>
          </a:prstGeom>
          <a:solidFill>
            <a:srgbClr val="0A7EA4"/>
          </a:solidFill>
          <a:ln cap="flat" cmpd="sng" w="12700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g39683255e89_0_41"/>
          <p:cNvSpPr/>
          <p:nvPr/>
        </p:nvSpPr>
        <p:spPr>
          <a:xfrm>
            <a:off x="5056840" y="3511281"/>
            <a:ext cx="3794700" cy="512100"/>
          </a:xfrm>
          <a:prstGeom prst="rect">
            <a:avLst/>
          </a:prstGeom>
          <a:solidFill>
            <a:srgbClr val="D1FAE5"/>
          </a:solidFill>
          <a:ln cap="flat" cmpd="sng" w="12700">
            <a:solidFill>
              <a:srgbClr val="0596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6" name="Google Shape;366;g39683255e89_0_41"/>
          <p:cNvSpPr/>
          <p:nvPr/>
        </p:nvSpPr>
        <p:spPr>
          <a:xfrm>
            <a:off x="5120848" y="3511281"/>
            <a:ext cx="3657600" cy="51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Calibri"/>
                <a:ea typeface="Calibri"/>
                <a:cs typeface="Calibri"/>
                <a:sym typeface="Calibri"/>
              </a:rPr>
              <a:t>✅  Añadir</a:t>
            </a:r>
            <a:r>
              <a:rPr b="1" i="1" lang="en-US" sz="900">
                <a:solidFill>
                  <a:srgbClr val="059669"/>
                </a:solidFill>
                <a:latin typeface="Calibri"/>
                <a:ea typeface="Calibri"/>
                <a:cs typeface="Calibri"/>
                <a:sym typeface="Calibri"/>
              </a:rPr>
              <a:t> es_erroneo: true</a:t>
            </a:r>
            <a:r>
              <a:rPr lang="en-US" sz="1000">
                <a:solidFill>
                  <a:srgbClr val="1F2328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b="1" i="0" lang="en-US" sz="900" u="none" cap="none" strike="noStrike">
                <a:solidFill>
                  <a:srgbClr val="059669"/>
                </a:solidFill>
                <a:latin typeface="Calibri"/>
                <a:ea typeface="Calibri"/>
                <a:cs typeface="Calibri"/>
                <a:sym typeface="Calibri"/>
              </a:rPr>
              <a:t>en</a:t>
            </a:r>
            <a:r>
              <a:rPr b="1" lang="en-US" sz="900">
                <a:solidFill>
                  <a:srgbClr val="059669"/>
                </a:solidFill>
                <a:latin typeface="Calibri"/>
                <a:ea typeface="Calibri"/>
                <a:cs typeface="Calibri"/>
                <a:sym typeface="Calibri"/>
              </a:rPr>
              <a:t> JSON</a:t>
            </a:r>
            <a:r>
              <a:rPr b="1" i="0" lang="en-US" sz="900" u="none" cap="none" strike="noStrike">
                <a:solidFill>
                  <a:srgbClr val="059669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4101E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g39683255e89_0_78"/>
          <p:cNvSpPr/>
          <p:nvPr/>
        </p:nvSpPr>
        <p:spPr>
          <a:xfrm>
            <a:off x="502920" y="164592"/>
            <a:ext cx="84126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D5B"/>
              </a:buClr>
              <a:buSzPts val="2600"/>
              <a:buFont typeface="Calibri"/>
              <a:buNone/>
            </a:pPr>
            <a:r>
              <a:rPr b="1" lang="en-US" sz="2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r>
              <a:rPr b="1" i="0" lang="en-US" sz="2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· Alternativas Posibles</a:t>
            </a:r>
            <a:endParaRPr b="0" i="0" sz="2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g39683255e89_0_78"/>
          <p:cNvSpPr/>
          <p:nvPr/>
        </p:nvSpPr>
        <p:spPr>
          <a:xfrm>
            <a:off x="411480" y="1463040"/>
            <a:ext cx="4160400" cy="1051500"/>
          </a:xfrm>
          <a:prstGeom prst="rect">
            <a:avLst/>
          </a:prstGeom>
          <a:solidFill>
            <a:srgbClr val="05294A"/>
          </a:solidFill>
          <a:ln cap="flat" cmpd="sng" w="12700">
            <a:solidFill>
              <a:srgbClr val="05294A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94A3B8">
                <a:alpha val="149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4" name="Google Shape;374;g39683255e89_0_78"/>
          <p:cNvSpPr/>
          <p:nvPr/>
        </p:nvSpPr>
        <p:spPr>
          <a:xfrm>
            <a:off x="411480" y="1463040"/>
            <a:ext cx="50400" cy="1051500"/>
          </a:xfrm>
          <a:prstGeom prst="rect">
            <a:avLst/>
          </a:prstGeom>
          <a:solidFill>
            <a:srgbClr val="2563EB"/>
          </a:solidFill>
          <a:ln cap="flat" cmpd="sng" w="12700">
            <a:solidFill>
              <a:srgbClr val="2563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g39683255e89_0_78"/>
          <p:cNvSpPr/>
          <p:nvPr/>
        </p:nvSpPr>
        <p:spPr>
          <a:xfrm>
            <a:off x="566928" y="1545336"/>
            <a:ext cx="38406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InfluxDB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g39683255e89_0_78"/>
          <p:cNvSpPr/>
          <p:nvPr/>
        </p:nvSpPr>
        <p:spPr>
          <a:xfrm>
            <a:off x="566928" y="1883664"/>
            <a:ext cx="38406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Calibri"/>
              <a:buNone/>
            </a:pPr>
            <a:r>
              <a:rPr lang="en-US" sz="10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InfluxDB sería más adecuado para series temporales, pero se eligió PostgreSQL por familiaridad y nos permite tener todo en un mismo sitio (datos válidos y registros de errores).</a:t>
            </a:r>
            <a:endParaRPr sz="10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g39683255e89_0_78"/>
          <p:cNvSpPr/>
          <p:nvPr/>
        </p:nvSpPr>
        <p:spPr>
          <a:xfrm>
            <a:off x="388617" y="3426460"/>
            <a:ext cx="4160400" cy="1051500"/>
          </a:xfrm>
          <a:prstGeom prst="rect">
            <a:avLst/>
          </a:prstGeom>
          <a:solidFill>
            <a:srgbClr val="05294A"/>
          </a:solidFill>
          <a:ln cap="flat" cmpd="sng" w="12700">
            <a:solidFill>
              <a:srgbClr val="05294A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94A3B8">
                <a:alpha val="149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8" name="Google Shape;378;g39683255e89_0_78"/>
          <p:cNvSpPr/>
          <p:nvPr/>
        </p:nvSpPr>
        <p:spPr>
          <a:xfrm>
            <a:off x="388618" y="3426460"/>
            <a:ext cx="50400" cy="1051500"/>
          </a:xfrm>
          <a:prstGeom prst="rect">
            <a:avLst/>
          </a:prstGeom>
          <a:solidFill>
            <a:srgbClr val="2563EB"/>
          </a:solidFill>
          <a:ln cap="flat" cmpd="sng" w="12700">
            <a:solidFill>
              <a:srgbClr val="2563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g39683255e89_0_78"/>
          <p:cNvSpPr/>
          <p:nvPr/>
        </p:nvSpPr>
        <p:spPr>
          <a:xfrm>
            <a:off x="544065" y="3508756"/>
            <a:ext cx="38406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MQTT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g39683255e89_0_78"/>
          <p:cNvSpPr/>
          <p:nvPr/>
        </p:nvSpPr>
        <p:spPr>
          <a:xfrm>
            <a:off x="544065" y="3847084"/>
            <a:ext cx="38406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Calibri"/>
              <a:buNone/>
            </a:pPr>
            <a:r>
              <a:rPr lang="en-US" sz="10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En lugar de HTTP/REST se podría usar MQTT con el concentrador como suscriptor.</a:t>
            </a:r>
            <a:endParaRPr b="0" i="0" sz="1000" u="none" cap="none" strike="noStrik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g39683255e89_0_78"/>
          <p:cNvSpPr/>
          <p:nvPr/>
        </p:nvSpPr>
        <p:spPr>
          <a:xfrm>
            <a:off x="4663440" y="1463040"/>
            <a:ext cx="4114800" cy="1051500"/>
          </a:xfrm>
          <a:prstGeom prst="rect">
            <a:avLst/>
          </a:prstGeom>
          <a:solidFill>
            <a:srgbClr val="05294A"/>
          </a:solidFill>
          <a:ln cap="flat" cmpd="sng" w="12700">
            <a:solidFill>
              <a:srgbClr val="05294A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94A3B8">
                <a:alpha val="149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g39683255e89_0_78"/>
          <p:cNvSpPr/>
          <p:nvPr/>
        </p:nvSpPr>
        <p:spPr>
          <a:xfrm>
            <a:off x="4663440" y="1463040"/>
            <a:ext cx="50400" cy="1051500"/>
          </a:xfrm>
          <a:prstGeom prst="rect">
            <a:avLst/>
          </a:prstGeom>
          <a:solidFill>
            <a:srgbClr val="7C3AED"/>
          </a:solidFill>
          <a:ln cap="flat" cmpd="sng" w="12700">
            <a:solidFill>
              <a:srgbClr val="7C3A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" name="Google Shape;383;g39683255e89_0_78"/>
          <p:cNvSpPr/>
          <p:nvPr/>
        </p:nvSpPr>
        <p:spPr>
          <a:xfrm>
            <a:off x="4818888" y="1545336"/>
            <a:ext cx="37947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3AED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7C3AED"/>
                </a:solidFill>
                <a:latin typeface="Calibri"/>
                <a:ea typeface="Calibri"/>
                <a:cs typeface="Calibri"/>
                <a:sym typeface="Calibri"/>
              </a:rPr>
              <a:t>Panel web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g39683255e89_0_78"/>
          <p:cNvSpPr/>
          <p:nvPr/>
        </p:nvSpPr>
        <p:spPr>
          <a:xfrm>
            <a:off x="4818888" y="1883664"/>
            <a:ext cx="37947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Calibri"/>
              <a:buNone/>
            </a:pPr>
            <a:r>
              <a:rPr lang="en-US" sz="10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Grafana conectado directamente a PostgreSQL daría un panel mucho más potente.</a:t>
            </a:r>
            <a:endParaRPr b="0" i="0" sz="1000" u="none" cap="none" strike="noStrik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g39683255e89_0_78"/>
          <p:cNvSpPr/>
          <p:nvPr/>
        </p:nvSpPr>
        <p:spPr>
          <a:xfrm>
            <a:off x="4640577" y="3426460"/>
            <a:ext cx="4114800" cy="1051500"/>
          </a:xfrm>
          <a:prstGeom prst="rect">
            <a:avLst/>
          </a:prstGeom>
          <a:solidFill>
            <a:srgbClr val="05294A"/>
          </a:solidFill>
          <a:ln cap="flat" cmpd="sng" w="12700">
            <a:solidFill>
              <a:srgbClr val="05294A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94A3B8">
                <a:alpha val="149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g39683255e89_0_78"/>
          <p:cNvSpPr/>
          <p:nvPr/>
        </p:nvSpPr>
        <p:spPr>
          <a:xfrm>
            <a:off x="4640578" y="3426460"/>
            <a:ext cx="50400" cy="1051500"/>
          </a:xfrm>
          <a:prstGeom prst="rect">
            <a:avLst/>
          </a:prstGeom>
          <a:solidFill>
            <a:srgbClr val="7C3AED"/>
          </a:solidFill>
          <a:ln cap="flat" cmpd="sng" w="12700">
            <a:solidFill>
              <a:srgbClr val="7C3A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g39683255e89_0_78"/>
          <p:cNvSpPr/>
          <p:nvPr/>
        </p:nvSpPr>
        <p:spPr>
          <a:xfrm>
            <a:off x="4796026" y="3508756"/>
            <a:ext cx="37947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3AED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7C3AED"/>
                </a:solidFill>
                <a:latin typeface="Calibri"/>
                <a:ea typeface="Calibri"/>
                <a:cs typeface="Calibri"/>
                <a:sym typeface="Calibri"/>
              </a:rPr>
              <a:t>Validación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g39683255e89_0_78"/>
          <p:cNvSpPr/>
          <p:nvPr/>
        </p:nvSpPr>
        <p:spPr>
          <a:xfrm>
            <a:off x="4796026" y="3847084"/>
            <a:ext cx="37947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Calibri"/>
              <a:buNone/>
            </a:pPr>
            <a:r>
              <a:rPr lang="en-US" sz="10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En lugar de Pydantic se podría usar jsonschema o marshmallow.</a:t>
            </a:r>
            <a:endParaRPr b="0" i="0" sz="1000" u="none" cap="none" strike="noStrik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g39683255e89_0_78"/>
          <p:cNvSpPr/>
          <p:nvPr/>
        </p:nvSpPr>
        <p:spPr>
          <a:xfrm>
            <a:off x="0" y="0"/>
            <a:ext cx="54900" cy="5143500"/>
          </a:xfrm>
          <a:prstGeom prst="rect">
            <a:avLst/>
          </a:prstGeom>
          <a:solidFill>
            <a:srgbClr val="0A7EA4"/>
          </a:solidFill>
          <a:ln cap="flat" cmpd="sng" w="12700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4101E"/>
        </a:solidFill>
      </p:bgPr>
    </p:bg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10"/>
          <p:cNvSpPr/>
          <p:nvPr/>
        </p:nvSpPr>
        <p:spPr>
          <a:xfrm>
            <a:off x="0" y="0"/>
            <a:ext cx="54900" cy="5143500"/>
          </a:xfrm>
          <a:prstGeom prst="rect">
            <a:avLst/>
          </a:prstGeom>
          <a:solidFill>
            <a:srgbClr val="0A7EA4"/>
          </a:solidFill>
          <a:ln cap="flat" cmpd="sng" w="12700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10"/>
          <p:cNvSpPr/>
          <p:nvPr/>
        </p:nvSpPr>
        <p:spPr>
          <a:xfrm>
            <a:off x="320040" y="256032"/>
            <a:ext cx="8503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b="1" lang="en-US" sz="2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Demo en vivo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0"/>
          <p:cNvSpPr/>
          <p:nvPr/>
        </p:nvSpPr>
        <p:spPr>
          <a:xfrm>
            <a:off x="182880" y="914400"/>
            <a:ext cx="4297800" cy="1234500"/>
          </a:xfrm>
          <a:prstGeom prst="rect">
            <a:avLst/>
          </a:prstGeom>
          <a:solidFill>
            <a:srgbClr val="05294A"/>
          </a:solidFill>
          <a:ln cap="flat" cmpd="sng" w="10150">
            <a:solidFill>
              <a:srgbClr val="00C8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10"/>
          <p:cNvSpPr/>
          <p:nvPr/>
        </p:nvSpPr>
        <p:spPr>
          <a:xfrm>
            <a:off x="292608" y="1261872"/>
            <a:ext cx="411600" cy="411600"/>
          </a:xfrm>
          <a:prstGeom prst="ellipse">
            <a:avLst/>
          </a:prstGeom>
          <a:solidFill>
            <a:srgbClr val="00C8FF"/>
          </a:solidFill>
          <a:ln cap="flat" cmpd="sng" w="12700">
            <a:solidFill>
              <a:srgbClr val="00C8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0"/>
          <p:cNvSpPr/>
          <p:nvPr/>
        </p:nvSpPr>
        <p:spPr>
          <a:xfrm>
            <a:off x="292608" y="1261872"/>
            <a:ext cx="4116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4101E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04101E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0"/>
          <p:cNvSpPr/>
          <p:nvPr/>
        </p:nvSpPr>
        <p:spPr>
          <a:xfrm>
            <a:off x="822960" y="960120"/>
            <a:ext cx="3520500" cy="30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Arrancar el sistema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0"/>
          <p:cNvSpPr/>
          <p:nvPr/>
        </p:nvSpPr>
        <p:spPr>
          <a:xfrm>
            <a:off x="822960" y="1261872"/>
            <a:ext cx="352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850"/>
              <a:buFont typeface="Consolas"/>
              <a:buNone/>
            </a:pPr>
            <a:r>
              <a:rPr lang="en-US" sz="850">
                <a:solidFill>
                  <a:srgbClr val="00C8FF"/>
                </a:solidFill>
                <a:latin typeface="Consolas"/>
                <a:ea typeface="Consolas"/>
                <a:cs typeface="Consolas"/>
                <a:sym typeface="Consolas"/>
              </a:rPr>
              <a:t>docker compose up --build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10"/>
          <p:cNvSpPr/>
          <p:nvPr/>
        </p:nvSpPr>
        <p:spPr>
          <a:xfrm>
            <a:off x="822960" y="1737360"/>
            <a:ext cx="35205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900"/>
              <a:buFont typeface="Calibri"/>
              <a:buNone/>
            </a:pPr>
            <a:r>
              <a:rPr i="1" lang="en-US" sz="9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Construye imágenes y lanza los 14 contenedores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10"/>
          <p:cNvSpPr/>
          <p:nvPr/>
        </p:nvSpPr>
        <p:spPr>
          <a:xfrm>
            <a:off x="182880" y="2258568"/>
            <a:ext cx="4297800" cy="1234500"/>
          </a:xfrm>
          <a:prstGeom prst="rect">
            <a:avLst/>
          </a:prstGeom>
          <a:solidFill>
            <a:srgbClr val="05294A"/>
          </a:solidFill>
          <a:ln cap="flat" cmpd="sng" w="10150">
            <a:solidFill>
              <a:srgbClr val="00D6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10"/>
          <p:cNvSpPr/>
          <p:nvPr/>
        </p:nvSpPr>
        <p:spPr>
          <a:xfrm>
            <a:off x="292608" y="2606040"/>
            <a:ext cx="411600" cy="411600"/>
          </a:xfrm>
          <a:prstGeom prst="ellipse">
            <a:avLst/>
          </a:prstGeom>
          <a:solidFill>
            <a:srgbClr val="00D68F"/>
          </a:solidFill>
          <a:ln cap="flat" cmpd="sng" w="12700">
            <a:solidFill>
              <a:srgbClr val="00D6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10"/>
          <p:cNvSpPr/>
          <p:nvPr/>
        </p:nvSpPr>
        <p:spPr>
          <a:xfrm>
            <a:off x="292608" y="2606040"/>
            <a:ext cx="4116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4101E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04101E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10"/>
          <p:cNvSpPr/>
          <p:nvPr/>
        </p:nvSpPr>
        <p:spPr>
          <a:xfrm>
            <a:off x="822960" y="2304288"/>
            <a:ext cx="3520500" cy="30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68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00D68F"/>
                </a:solidFill>
                <a:latin typeface="Calibri"/>
                <a:ea typeface="Calibri"/>
                <a:cs typeface="Calibri"/>
                <a:sym typeface="Calibri"/>
              </a:rPr>
              <a:t>Abrir el panel web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10"/>
          <p:cNvSpPr/>
          <p:nvPr/>
        </p:nvSpPr>
        <p:spPr>
          <a:xfrm>
            <a:off x="822960" y="2606040"/>
            <a:ext cx="352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850"/>
              <a:buFont typeface="Consolas"/>
              <a:buNone/>
            </a:pPr>
            <a:r>
              <a:rPr lang="en-US" sz="850">
                <a:solidFill>
                  <a:srgbClr val="00C8FF"/>
                </a:solidFill>
                <a:latin typeface="Consolas"/>
                <a:ea typeface="Consolas"/>
                <a:cs typeface="Consolas"/>
                <a:sym typeface="Consolas"/>
              </a:rPr>
              <a:t>http://localhost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10"/>
          <p:cNvSpPr/>
          <p:nvPr/>
        </p:nvSpPr>
        <p:spPr>
          <a:xfrm>
            <a:off x="822960" y="3081528"/>
            <a:ext cx="35205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900"/>
              <a:buFont typeface="Calibri"/>
              <a:buNone/>
            </a:pPr>
            <a:r>
              <a:rPr i="1" lang="en-US" sz="9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Ver turbinas en tiempo real, gráfico de potencia y log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0"/>
          <p:cNvSpPr/>
          <p:nvPr/>
        </p:nvSpPr>
        <p:spPr>
          <a:xfrm>
            <a:off x="182880" y="3602736"/>
            <a:ext cx="4297800" cy="1234500"/>
          </a:xfrm>
          <a:prstGeom prst="rect">
            <a:avLst/>
          </a:prstGeom>
          <a:solidFill>
            <a:srgbClr val="05294A"/>
          </a:solidFill>
          <a:ln cap="flat" cmpd="sng" w="10150">
            <a:solidFill>
              <a:srgbClr val="FFD7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0"/>
          <p:cNvSpPr/>
          <p:nvPr/>
        </p:nvSpPr>
        <p:spPr>
          <a:xfrm>
            <a:off x="292608" y="3950208"/>
            <a:ext cx="411600" cy="411600"/>
          </a:xfrm>
          <a:prstGeom prst="ellipse">
            <a:avLst/>
          </a:prstGeom>
          <a:solidFill>
            <a:srgbClr val="FFD740"/>
          </a:solidFill>
          <a:ln cap="flat" cmpd="sng" w="12700">
            <a:solidFill>
              <a:srgbClr val="FFD7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10"/>
          <p:cNvSpPr/>
          <p:nvPr/>
        </p:nvSpPr>
        <p:spPr>
          <a:xfrm>
            <a:off x="292608" y="3950208"/>
            <a:ext cx="4116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4101E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04101E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0"/>
          <p:cNvSpPr/>
          <p:nvPr/>
        </p:nvSpPr>
        <p:spPr>
          <a:xfrm>
            <a:off x="822960" y="3648456"/>
            <a:ext cx="3520500" cy="30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40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FFD740"/>
                </a:solidFill>
                <a:latin typeface="Calibri"/>
                <a:ea typeface="Calibri"/>
                <a:cs typeface="Calibri"/>
                <a:sym typeface="Calibri"/>
              </a:rPr>
              <a:t>Ver FastAPI Docs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0"/>
          <p:cNvSpPr/>
          <p:nvPr/>
        </p:nvSpPr>
        <p:spPr>
          <a:xfrm>
            <a:off x="822960" y="3950208"/>
            <a:ext cx="352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850"/>
              <a:buFont typeface="Consolas"/>
              <a:buNone/>
            </a:pPr>
            <a:r>
              <a:rPr lang="en-US" sz="850">
                <a:solidFill>
                  <a:srgbClr val="00C8FF"/>
                </a:solidFill>
                <a:latin typeface="Consolas"/>
                <a:ea typeface="Consolas"/>
                <a:cs typeface="Consolas"/>
                <a:sym typeface="Consolas"/>
              </a:rPr>
              <a:t>http://localhost:8000/docs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10"/>
          <p:cNvSpPr/>
          <p:nvPr/>
        </p:nvSpPr>
        <p:spPr>
          <a:xfrm>
            <a:off x="822960" y="4425696"/>
            <a:ext cx="35205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900"/>
              <a:buFont typeface="Calibri"/>
              <a:buNone/>
            </a:pPr>
            <a:r>
              <a:rPr i="1" lang="en-US" sz="9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Probar endpoints manualmente, enviar datos de prueba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0"/>
          <p:cNvSpPr/>
          <p:nvPr/>
        </p:nvSpPr>
        <p:spPr>
          <a:xfrm>
            <a:off x="4663440" y="914400"/>
            <a:ext cx="4297800" cy="1234500"/>
          </a:xfrm>
          <a:prstGeom prst="rect">
            <a:avLst/>
          </a:prstGeom>
          <a:solidFill>
            <a:srgbClr val="05294A"/>
          </a:solidFill>
          <a:ln cap="flat" cmpd="sng" w="10150">
            <a:solidFill>
              <a:srgbClr val="FF70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10"/>
          <p:cNvSpPr/>
          <p:nvPr/>
        </p:nvSpPr>
        <p:spPr>
          <a:xfrm>
            <a:off x="4773168" y="1261872"/>
            <a:ext cx="411600" cy="411600"/>
          </a:xfrm>
          <a:prstGeom prst="ellipse">
            <a:avLst/>
          </a:prstGeom>
          <a:solidFill>
            <a:srgbClr val="FF7043"/>
          </a:solidFill>
          <a:ln cap="flat" cmpd="sng" w="12700">
            <a:solidFill>
              <a:srgbClr val="FF70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0"/>
          <p:cNvSpPr/>
          <p:nvPr/>
        </p:nvSpPr>
        <p:spPr>
          <a:xfrm>
            <a:off x="4773168" y="1261872"/>
            <a:ext cx="4116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4101E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04101E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10"/>
          <p:cNvSpPr/>
          <p:nvPr/>
        </p:nvSpPr>
        <p:spPr>
          <a:xfrm>
            <a:off x="5303520" y="960120"/>
            <a:ext cx="3520500" cy="30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7043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FF7043"/>
                </a:solidFill>
                <a:latin typeface="Calibri"/>
                <a:ea typeface="Calibri"/>
                <a:cs typeface="Calibri"/>
                <a:sym typeface="Calibri"/>
              </a:rPr>
              <a:t>Demostrar rechazo sin API Key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0"/>
          <p:cNvSpPr/>
          <p:nvPr/>
        </p:nvSpPr>
        <p:spPr>
          <a:xfrm>
            <a:off x="5303520" y="1261872"/>
            <a:ext cx="352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850"/>
              <a:buFont typeface="Consolas"/>
              <a:buNone/>
            </a:pPr>
            <a:r>
              <a:rPr lang="en-US" sz="850">
                <a:solidFill>
                  <a:srgbClr val="00C8FF"/>
                </a:solidFill>
                <a:latin typeface="Consolas"/>
                <a:ea typeface="Consolas"/>
                <a:cs typeface="Consolas"/>
                <a:sym typeface="Consolas"/>
              </a:rPr>
              <a:t>curl -X POST http://localhost:8000/datos \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850"/>
              <a:buFont typeface="Consolas"/>
              <a:buNone/>
            </a:pPr>
            <a:r>
              <a:rPr lang="en-US" sz="850">
                <a:solidFill>
                  <a:srgbClr val="00C8FF"/>
                </a:solidFill>
                <a:latin typeface="Consolas"/>
                <a:ea typeface="Consolas"/>
                <a:cs typeface="Consolas"/>
                <a:sym typeface="Consolas"/>
              </a:rPr>
              <a:t>  -H "Content-Type: application/json" \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850"/>
              <a:buFont typeface="Consolas"/>
              <a:buNone/>
            </a:pPr>
            <a:r>
              <a:rPr lang="en-US" sz="850">
                <a:solidFill>
                  <a:srgbClr val="00C8FF"/>
                </a:solidFill>
                <a:latin typeface="Consolas"/>
                <a:ea typeface="Consolas"/>
                <a:cs typeface="Consolas"/>
                <a:sym typeface="Consolas"/>
              </a:rPr>
              <a:t>  -d '{"turbina_id":"intruso",...}'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10"/>
          <p:cNvSpPr/>
          <p:nvPr/>
        </p:nvSpPr>
        <p:spPr>
          <a:xfrm>
            <a:off x="5303520" y="1737360"/>
            <a:ext cx="35205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900"/>
              <a:buFont typeface="Calibri"/>
              <a:buNone/>
            </a:pPr>
            <a:r>
              <a:rPr i="1" lang="en-US" sz="9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→  401 Unauthorized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10"/>
          <p:cNvSpPr/>
          <p:nvPr/>
        </p:nvSpPr>
        <p:spPr>
          <a:xfrm>
            <a:off x="4663440" y="2258568"/>
            <a:ext cx="4297800" cy="1234500"/>
          </a:xfrm>
          <a:prstGeom prst="rect">
            <a:avLst/>
          </a:prstGeom>
          <a:solidFill>
            <a:srgbClr val="05294A"/>
          </a:solidFill>
          <a:ln cap="flat" cmpd="sng" w="10150">
            <a:solidFill>
              <a:srgbClr val="CE93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10"/>
          <p:cNvSpPr/>
          <p:nvPr/>
        </p:nvSpPr>
        <p:spPr>
          <a:xfrm>
            <a:off x="4773168" y="2606040"/>
            <a:ext cx="411600" cy="411600"/>
          </a:xfrm>
          <a:prstGeom prst="ellipse">
            <a:avLst/>
          </a:prstGeom>
          <a:solidFill>
            <a:srgbClr val="CE93D8"/>
          </a:solidFill>
          <a:ln cap="flat" cmpd="sng" w="12700">
            <a:solidFill>
              <a:srgbClr val="CE93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0"/>
          <p:cNvSpPr/>
          <p:nvPr/>
        </p:nvSpPr>
        <p:spPr>
          <a:xfrm>
            <a:off x="4773168" y="2606040"/>
            <a:ext cx="4116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4101E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04101E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10"/>
          <p:cNvSpPr/>
          <p:nvPr/>
        </p:nvSpPr>
        <p:spPr>
          <a:xfrm>
            <a:off x="5303520" y="2304288"/>
            <a:ext cx="3520500" cy="30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E93D8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E93D8"/>
                </a:solidFill>
                <a:latin typeface="Calibri"/>
                <a:ea typeface="Calibri"/>
                <a:cs typeface="Calibri"/>
                <a:sym typeface="Calibri"/>
              </a:rPr>
              <a:t>Consultar PostgreSQL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10"/>
          <p:cNvSpPr/>
          <p:nvPr/>
        </p:nvSpPr>
        <p:spPr>
          <a:xfrm>
            <a:off x="5303520" y="2606040"/>
            <a:ext cx="352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850"/>
              <a:buFont typeface="Consolas"/>
              <a:buNone/>
            </a:pPr>
            <a:r>
              <a:rPr lang="en-US" sz="850">
                <a:solidFill>
                  <a:srgbClr val="00C8FF"/>
                </a:solidFill>
                <a:latin typeface="Consolas"/>
                <a:ea typeface="Consolas"/>
                <a:cs typeface="Consolas"/>
                <a:sym typeface="Consolas"/>
              </a:rPr>
              <a:t>docker exec -it base_datos psql -U deusto -d parque_eolico_db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10"/>
          <p:cNvSpPr/>
          <p:nvPr/>
        </p:nvSpPr>
        <p:spPr>
          <a:xfrm>
            <a:off x="5303520" y="3081528"/>
            <a:ext cx="35205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900"/>
              <a:buFont typeface="Calibri"/>
              <a:buNone/>
            </a:pPr>
            <a:r>
              <a:rPr i="1" lang="en-US" sz="9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SELECT turbina_id, COUNT(*) FROM rechazados GROUP BY 1;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2026-03-25T08:58:10Z</dcterms:created>
  <dc:creator>PptxGenJS</dc:creator>
</cp:coreProperties>
</file>