
<file path=[Content_Types].xml><?xml version="1.0" encoding="utf-8"?>
<Types xmlns="http://schemas.openxmlformats.org/package/2006/content-types">
  <Default ContentType="image/jpeg" Extension="jpg"/>
  <Default ContentType="application/vnd.openxmlformats-officedocument.spreadsheetml.sheet" Extension="xlsx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j1dU5tl36z8edXZvHqJw8Ww7bJ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F4C8DC-9B22-4493-AA9A-FF226E0E957E}">
  <a:tblStyle styleId="{40F4C8DC-9B22-4493-AA9A-FF226E0E95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E8F4F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E8F4F8"/>
                </a:solidFill>
                <a:latin typeface="Arial"/>
              </a:rPr>
              <a:t>Curva de potencia (2 MW)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Potencia (%)</c:v>
                </c:pt>
              </c:strCache>
            </c:strRef>
          </c:tx>
          <c:spPr>
            <a:solidFill>
              <a:srgbClr val="0A7EA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C8FF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0-3
m/s</c:v>
                </c:pt>
                <c:pt idx="1">
                  <c:v>6
m/s</c:v>
                </c:pt>
                <c:pt idx="2">
                  <c:v>9
m/s</c:v>
                </c:pt>
                <c:pt idx="3">
                  <c:v>12
m/s</c:v>
                </c:pt>
                <c:pt idx="4">
                  <c:v>15
m/s</c:v>
                </c:pt>
                <c:pt idx="5">
                  <c:v>25+
m/s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15</c:v>
                </c:pt>
                <c:pt idx="2">
                  <c:v>42</c:v>
                </c:pt>
                <c:pt idx="3">
                  <c:v>100</c:v>
                </c:pt>
                <c:pt idx="4">
                  <c:v>100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C1-4C2C-9BAE-AFE7ADFA6B8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BAFC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3A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BAFC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410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g3d2615fdc14_0_24:notes"/>
          <p:cNvSpPr/>
          <p:nvPr>
            <p:ph idx="2" type="sldImg"/>
          </p:nvPr>
        </p:nvSpPr>
        <p:spPr>
          <a:xfrm>
            <a:off x="857400" y="685800"/>
            <a:ext cx="3429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" name="Google Shape;10;g3d2615fdc14_0_24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9683255e89_0_1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" name="Google Shape;16;g39683255e89_0_1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g39683255e89_0_1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Cada 60 segundos, esta tarea agrupa las lecturas por turbina, calcula las medias y las inserta en una tabla de agregados minutales.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-"/>
            </a:pPr>
            <a:r>
              <a:rPr lang="en-US" sz="1200">
                <a:solidFill>
                  <a:schemeClr val="dk1"/>
                </a:solidFill>
              </a:rPr>
              <a:t>Este gráfico demuestra cómo se realiza el cálculo de la potencia generado en función del viento,  respetando los límites de arranque (cut-in) y frenado de emergencia (cut-out)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1" name="Google Shape;26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2" name="Google Shape;29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9683255e89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g39683255e89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g39683255e89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9683255e89_0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g39683255e89_0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g39683255e89_0_4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9683255e89_0_7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g39683255e89_0_7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9683255e89_0_7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1" name="Google Shape;391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jorar esta diapositiva" id="12" name="Google Shape;12;g3d2615fdc14_0_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g3d2615fdc14_0_24"/>
          <p:cNvSpPr/>
          <p:nvPr/>
        </p:nvSpPr>
        <p:spPr>
          <a:xfrm>
            <a:off x="248248" y="4223625"/>
            <a:ext cx="2844900" cy="457200"/>
          </a:xfrm>
          <a:prstGeom prst="rect">
            <a:avLst/>
          </a:prstGeom>
          <a:solidFill>
            <a:srgbClr val="04102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200"/>
              <a:buFont typeface="Calibri"/>
              <a:buNone/>
            </a:pPr>
            <a:r>
              <a:rPr i="1" lang="en-US" sz="12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Juan Mari Díaz, Unai Pinilla e Imanol Lama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g39683255e89_0_128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g39683255e89_0_128"/>
          <p:cNvSpPr/>
          <p:nvPr/>
        </p:nvSpPr>
        <p:spPr>
          <a:xfrm>
            <a:off x="2009145" y="256150"/>
            <a:ext cx="4533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Contenido de la presentación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g39683255e89_0_128"/>
          <p:cNvSpPr/>
          <p:nvPr/>
        </p:nvSpPr>
        <p:spPr>
          <a:xfrm>
            <a:off x="463550" y="10137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g39683255e89_0_128"/>
          <p:cNvSpPr/>
          <p:nvPr/>
        </p:nvSpPr>
        <p:spPr>
          <a:xfrm>
            <a:off x="463550" y="10137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g39683255e89_0_128"/>
          <p:cNvSpPr/>
          <p:nvPr/>
        </p:nvSpPr>
        <p:spPr>
          <a:xfrm>
            <a:off x="1057910" y="10137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Descripción del reto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g39683255e89_0_128"/>
          <p:cNvSpPr/>
          <p:nvPr/>
        </p:nvSpPr>
        <p:spPr>
          <a:xfrm>
            <a:off x="1057910" y="12697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Objetivos y requisitos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g39683255e89_0_128"/>
          <p:cNvSpPr/>
          <p:nvPr/>
        </p:nvSpPr>
        <p:spPr>
          <a:xfrm>
            <a:off x="464700" y="1699390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g39683255e89_0_128"/>
          <p:cNvSpPr/>
          <p:nvPr/>
        </p:nvSpPr>
        <p:spPr>
          <a:xfrm>
            <a:off x="464700" y="1699390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g39683255e89_0_128"/>
          <p:cNvSpPr/>
          <p:nvPr/>
        </p:nvSpPr>
        <p:spPr>
          <a:xfrm>
            <a:off x="1059060" y="169939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del sistema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g39683255e89_0_128"/>
          <p:cNvSpPr/>
          <p:nvPr/>
        </p:nvSpPr>
        <p:spPr>
          <a:xfrm>
            <a:off x="1059060" y="1955422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10 turbinas + concentrador + panel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g39683255e89_0_128"/>
          <p:cNvSpPr/>
          <p:nvPr/>
        </p:nvSpPr>
        <p:spPr>
          <a:xfrm>
            <a:off x="467000" y="24033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g39683255e89_0_128"/>
          <p:cNvSpPr/>
          <p:nvPr/>
        </p:nvSpPr>
        <p:spPr>
          <a:xfrm>
            <a:off x="467000" y="24033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g39683255e89_0_128"/>
          <p:cNvSpPr/>
          <p:nvPr/>
        </p:nvSpPr>
        <p:spPr>
          <a:xfrm>
            <a:off x="1061360" y="24033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g39683255e89_0_128"/>
          <p:cNvSpPr/>
          <p:nvPr/>
        </p:nvSpPr>
        <p:spPr>
          <a:xfrm>
            <a:off x="1061360" y="26593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6 dimensiones de calidad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g39683255e89_0_128"/>
          <p:cNvSpPr/>
          <p:nvPr/>
        </p:nvSpPr>
        <p:spPr>
          <a:xfrm>
            <a:off x="471600" y="3107340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g39683255e89_0_128"/>
          <p:cNvSpPr/>
          <p:nvPr/>
        </p:nvSpPr>
        <p:spPr>
          <a:xfrm>
            <a:off x="471600" y="3107340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g39683255e89_0_128"/>
          <p:cNvSpPr/>
          <p:nvPr/>
        </p:nvSpPr>
        <p:spPr>
          <a:xfrm>
            <a:off x="1065960" y="310734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Concentrador FastAPI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g39683255e89_0_128"/>
          <p:cNvSpPr/>
          <p:nvPr/>
        </p:nvSpPr>
        <p:spPr>
          <a:xfrm>
            <a:off x="1065960" y="3363372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Validación, persistencia y agregaciones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g39683255e89_0_128"/>
          <p:cNvSpPr/>
          <p:nvPr/>
        </p:nvSpPr>
        <p:spPr>
          <a:xfrm>
            <a:off x="471590" y="381131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g39683255e89_0_128"/>
          <p:cNvSpPr/>
          <p:nvPr/>
        </p:nvSpPr>
        <p:spPr>
          <a:xfrm>
            <a:off x="471590" y="381131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g39683255e89_0_128"/>
          <p:cNvSpPr/>
          <p:nvPr/>
        </p:nvSpPr>
        <p:spPr>
          <a:xfrm>
            <a:off x="1065950" y="381131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Generadores individuales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g39683255e89_0_128"/>
          <p:cNvSpPr/>
          <p:nvPr/>
        </p:nvSpPr>
        <p:spPr>
          <a:xfrm>
            <a:off x="1065950" y="406734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Datos sintéticos y curva de potencia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g39683255e89_0_128"/>
          <p:cNvSpPr/>
          <p:nvPr/>
        </p:nvSpPr>
        <p:spPr>
          <a:xfrm>
            <a:off x="4428490" y="10137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g39683255e89_0_128"/>
          <p:cNvSpPr/>
          <p:nvPr/>
        </p:nvSpPr>
        <p:spPr>
          <a:xfrm>
            <a:off x="4428490" y="10137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g39683255e89_0_128"/>
          <p:cNvSpPr/>
          <p:nvPr/>
        </p:nvSpPr>
        <p:spPr>
          <a:xfrm>
            <a:off x="5022850" y="10137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Panel web en tiempo real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g39683255e89_0_128"/>
          <p:cNvSpPr/>
          <p:nvPr/>
        </p:nvSpPr>
        <p:spPr>
          <a:xfrm>
            <a:off x="5022850" y="12697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Nginx + HTML/JS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g39683255e89_0_128"/>
          <p:cNvSpPr/>
          <p:nvPr/>
        </p:nvSpPr>
        <p:spPr>
          <a:xfrm>
            <a:off x="4428490" y="1708565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g39683255e89_0_128"/>
          <p:cNvSpPr/>
          <p:nvPr/>
        </p:nvSpPr>
        <p:spPr>
          <a:xfrm>
            <a:off x="4428490" y="1708565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g39683255e89_0_128"/>
          <p:cNvSpPr/>
          <p:nvPr/>
        </p:nvSpPr>
        <p:spPr>
          <a:xfrm>
            <a:off x="5022850" y="1708565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Seguridad y persistencia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g39683255e89_0_128"/>
          <p:cNvSpPr/>
          <p:nvPr/>
        </p:nvSpPr>
        <p:spPr>
          <a:xfrm>
            <a:off x="5022850" y="196459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API Key + PostgreSQL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9683255e89_0_128"/>
          <p:cNvSpPr/>
          <p:nvPr/>
        </p:nvSpPr>
        <p:spPr>
          <a:xfrm>
            <a:off x="4428490" y="2389953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g39683255e89_0_128"/>
          <p:cNvSpPr/>
          <p:nvPr/>
        </p:nvSpPr>
        <p:spPr>
          <a:xfrm>
            <a:off x="4428490" y="2389953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g39683255e89_0_128"/>
          <p:cNvSpPr/>
          <p:nvPr/>
        </p:nvSpPr>
        <p:spPr>
          <a:xfrm>
            <a:off x="5022850" y="2389953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Posibles Vías de Mejora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g39683255e89_0_128"/>
          <p:cNvSpPr/>
          <p:nvPr/>
        </p:nvSpPr>
        <p:spPr>
          <a:xfrm>
            <a:off x="5022850" y="2645985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Posibles mejoras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g39683255e89_0_128"/>
          <p:cNvSpPr/>
          <p:nvPr/>
        </p:nvSpPr>
        <p:spPr>
          <a:xfrm>
            <a:off x="4428490" y="3071328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g39683255e89_0_128"/>
          <p:cNvSpPr/>
          <p:nvPr/>
        </p:nvSpPr>
        <p:spPr>
          <a:xfrm>
            <a:off x="4428490" y="3071328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9683255e89_0_128"/>
          <p:cNvSpPr/>
          <p:nvPr/>
        </p:nvSpPr>
        <p:spPr>
          <a:xfrm>
            <a:off x="5022850" y="3071328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Problemas y Retos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g39683255e89_0_128"/>
          <p:cNvSpPr/>
          <p:nvPr/>
        </p:nvSpPr>
        <p:spPr>
          <a:xfrm>
            <a:off x="5022850" y="332736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Problemas y Retos </a:t>
            </a: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encontrados</a:t>
            </a: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 durante la realización.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9683255e89_0_128"/>
          <p:cNvSpPr/>
          <p:nvPr/>
        </p:nvSpPr>
        <p:spPr>
          <a:xfrm>
            <a:off x="4428490" y="3725303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g39683255e89_0_128"/>
          <p:cNvSpPr/>
          <p:nvPr/>
        </p:nvSpPr>
        <p:spPr>
          <a:xfrm>
            <a:off x="4428490" y="3725303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9683255e89_0_128"/>
          <p:cNvSpPr/>
          <p:nvPr/>
        </p:nvSpPr>
        <p:spPr>
          <a:xfrm>
            <a:off x="5022850" y="3725303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Alternativas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g39683255e89_0_128"/>
          <p:cNvSpPr/>
          <p:nvPr/>
        </p:nvSpPr>
        <p:spPr>
          <a:xfrm>
            <a:off x="5022850" y="3981335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Posibles alternativas del proyecto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g39683255e89_0_128"/>
          <p:cNvSpPr/>
          <p:nvPr/>
        </p:nvSpPr>
        <p:spPr>
          <a:xfrm>
            <a:off x="4428490" y="4434078"/>
            <a:ext cx="502800" cy="502800"/>
          </a:xfrm>
          <a:prstGeom prst="rect">
            <a:avLst/>
          </a:prstGeom>
          <a:solidFill>
            <a:srgbClr val="0A7EA4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9683255e89_0_128"/>
          <p:cNvSpPr/>
          <p:nvPr/>
        </p:nvSpPr>
        <p:spPr>
          <a:xfrm>
            <a:off x="4428490" y="4434078"/>
            <a:ext cx="502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9683255e89_0_128"/>
          <p:cNvSpPr/>
          <p:nvPr/>
        </p:nvSpPr>
        <p:spPr>
          <a:xfrm>
            <a:off x="5022850" y="4434078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g39683255e89_0_128"/>
          <p:cNvSpPr/>
          <p:nvPr/>
        </p:nvSpPr>
        <p:spPr>
          <a:xfrm>
            <a:off x="5022850" y="469011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docker compose up --build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 · Descripción del reto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228600" y="960120"/>
            <a:ext cx="2788920" cy="347472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3" name="Google Shape;7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097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3"/>
          <p:cNvSpPr/>
          <p:nvPr/>
        </p:nvSpPr>
        <p:spPr>
          <a:xfrm>
            <a:off x="365760" y="16916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65760" y="2103120"/>
            <a:ext cx="2514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Parque eólico con 10 generadores y un concentrador. Probabilidad N de datos erróneos por generador.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72968" y="960120"/>
            <a:ext cx="2788920" cy="347472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7" name="Google Shape;7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55848" y="1097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3"/>
          <p:cNvSpPr/>
          <p:nvPr/>
        </p:nvSpPr>
        <p:spPr>
          <a:xfrm>
            <a:off x="3310128" y="16916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Concentrador FastAPI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310128" y="2103120"/>
            <a:ext cx="2514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Valida los datos recibidos. Realiza agregaciones: media de producción del parque y agregados minutales.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6117336" y="960120"/>
            <a:ext cx="2788920" cy="347472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1" name="Google Shape;81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0216" y="109728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"/>
          <p:cNvSpPr/>
          <p:nvPr/>
        </p:nvSpPr>
        <p:spPr>
          <a:xfrm>
            <a:off x="6254496" y="1691640"/>
            <a:ext cx="2514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Generadores individuales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6254496" y="2103120"/>
            <a:ext cx="2514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Programas independientes que generan datos sintéticos distintos. Extras: seguridad + persistencia.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228600" y="4572000"/>
            <a:ext cx="8686800" cy="384048"/>
          </a:xfrm>
          <a:prstGeom prst="rect">
            <a:avLst/>
          </a:prstGeom>
          <a:solidFill>
            <a:srgbClr val="0A7EA4">
              <a:alpha val="30196"/>
            </a:srgbClr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✓  Extras implementados:  Seguridad con API Key  ·  Persistencia con PostgreSQL  ·  Panel web en tiempo real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 · Arquitectura del sistema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182880" y="914400"/>
            <a:ext cx="2011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10 TURBINAS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182880" y="129844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228600" y="137160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turbina_01  ·  2000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82880" y="193852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12A0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228600" y="201168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turbina_02  ·  2500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182880" y="257860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228600" y="265176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turbina_03  ·  1800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182880" y="321868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12A0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228600" y="329184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turbina_04  ·  2200 kW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182880" y="3858768"/>
            <a:ext cx="2011680" cy="50292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228600" y="393192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turbina_05  ·  3000 kW  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137180" y="437540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... turbina_06 → turbina_10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2286000" y="2286000"/>
            <a:ext cx="1371600" cy="36576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240280" y="233172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POST /datos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+ API Key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749040" y="960120"/>
            <a:ext cx="2834640" cy="356616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3749040" y="960120"/>
            <a:ext cx="2834640" cy="32004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3749040" y="960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CONCENTRADOR FastAPI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886200" y="13716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🔑  Verifica API Key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86200" y="18288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✅  Valida con Pydantic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3886200" y="22860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     6 dimensiones calidad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3886200" y="27432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💾  Guarda en PostgreSQL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3886200" y="32004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📊  Agrega minutalmente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6200" y="3657600"/>
            <a:ext cx="25603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📡  Expone endpoints REST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675120" y="2286000"/>
            <a:ext cx="822960" cy="36576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7543800" y="1645920"/>
            <a:ext cx="1417320" cy="137160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2128" y="17373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7543800" y="2194560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7543800" y="2487168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lecturas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rechazados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agregados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6675120" y="3383280"/>
            <a:ext cx="822960" cy="36576"/>
          </a:xfrm>
          <a:prstGeom prst="rect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7543800" y="3108960"/>
            <a:ext cx="1417320" cy="100584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7543800" y="3200400"/>
            <a:ext cx="1417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Panel Web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7543800" y="3474720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nginx + HTML/JS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polling 2s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182880" y="4663440"/>
            <a:ext cx="8778240" cy="320040"/>
          </a:xfrm>
          <a:prstGeom prst="rect">
            <a:avLst/>
          </a:prstGeom>
          <a:solidFill>
            <a:srgbClr val="0A7EA4">
              <a:alpha val="20000"/>
            </a:srgbClr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20040" y="466344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14 contenedores Docker  ·  10 turbinas + concentrador + base_datos + panel_web + nginx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 · Modelo de datos · modelo.py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82880" y="868680"/>
            <a:ext cx="3931920" cy="320040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82880" y="868680"/>
            <a:ext cx="3931920" cy="347472"/>
          </a:xfrm>
          <a:prstGeom prst="rect">
            <a:avLst/>
          </a:prstGeom>
          <a:solidFill>
            <a:srgbClr val="0A7EA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Campos de DatosTurbina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82880" y="868680"/>
            <a:ext cx="3931920" cy="347472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182880" y="868680"/>
            <a:ext cx="3931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Campos de DatosTurbina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320040" y="129844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turbina_id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2084832" y="129844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2743200" y="129844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Identificador de la turbina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320040" y="169164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timestamp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2084832" y="169164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2743200" y="169164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ms epoch 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320040" y="2084832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velocidad_viento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2084832" y="2084832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2743200" y="2084832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0 – 40 m/s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320040" y="2478024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potencia_generada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2084832" y="2478024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2743200" y="2478024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0 – 3000 kW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320040" y="287121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temperatura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2084832" y="2871216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2743200" y="287121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-20 – 80 °C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320040" y="3264408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rpm_rotor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2084832" y="3264408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float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2743200" y="3264408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0 – 25 rpm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320040" y="3657600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es_erroneo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2084832" y="365760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bool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2743200" y="36576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850"/>
              <a:buFont typeface="Calibri"/>
              <a:buNone/>
            </a:pPr>
            <a:r>
              <a:rPr lang="en-US" sz="8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El generador avisa del fallo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4297680" y="868680"/>
            <a:ext cx="4663440" cy="32004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4297680" y="86868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 Dimensiones de Calidad del Dato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4297680" y="1243584"/>
            <a:ext cx="45720" cy="402336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434840" y="124358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Completitud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34840" y="147218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Todos los campos obligatorios. Si falta uno → 422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297680" y="1746504"/>
            <a:ext cx="45720" cy="402336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34840" y="174650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Exactitud</a:t>
            </a:r>
            <a:endParaRPr b="1" sz="1050">
              <a:solidFill>
                <a:srgbClr val="00C8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4434840" y="197510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Valores reales y dentro de los límites</a:t>
            </a:r>
            <a:endParaRPr sz="900">
              <a:solidFill>
                <a:srgbClr val="E8F4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4297680" y="2249424"/>
            <a:ext cx="45720" cy="402336"/>
          </a:xfrm>
          <a:prstGeom prst="rect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4434840" y="224942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Validez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4434840" y="247802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El formato de los datos debe ser correcto, ej: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tipos correctos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297680" y="2752344"/>
            <a:ext cx="45720" cy="402336"/>
          </a:xfrm>
          <a:prstGeom prst="rect">
            <a:avLst/>
          </a:prstGeom>
          <a:solidFill>
            <a:srgbClr val="FF7043"/>
          </a:solidFill>
          <a:ln cap="flat" cmpd="sng" w="1270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4434840" y="2752344"/>
            <a:ext cx="18288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043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FF7043"/>
                </a:solidFill>
                <a:latin typeface="Calibri"/>
                <a:ea typeface="Calibri"/>
                <a:cs typeface="Calibri"/>
                <a:sym typeface="Calibri"/>
              </a:rPr>
              <a:t>Consistencia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4434840" y="298094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Los datos deben tener sentido, ej: La relación de potencia generado con la velocidad del viento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4297680" y="3255264"/>
            <a:ext cx="45720" cy="40233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5"/>
          <p:cNvSpPr/>
          <p:nvPr/>
        </p:nvSpPr>
        <p:spPr>
          <a:xfrm>
            <a:off x="4434840" y="325526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Unicidad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5"/>
          <p:cNvSpPr/>
          <p:nvPr/>
        </p:nvSpPr>
        <p:spPr>
          <a:xfrm>
            <a:off x="4434840" y="348386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No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existen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 datos duplicados (mismo registro enviado dos veces)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5"/>
          <p:cNvSpPr/>
          <p:nvPr/>
        </p:nvSpPr>
        <p:spPr>
          <a:xfrm>
            <a:off x="4297680" y="3758184"/>
            <a:ext cx="45720" cy="402336"/>
          </a:xfrm>
          <a:prstGeom prst="rect">
            <a:avLst/>
          </a:prstGeom>
          <a:solidFill>
            <a:srgbClr val="CE93D8"/>
          </a:solidFill>
          <a:ln cap="flat" cmpd="sng" w="1270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4434840" y="3758184"/>
            <a:ext cx="1828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050"/>
              <a:buFont typeface="Calibri"/>
              <a:buNone/>
            </a:pPr>
            <a:r>
              <a:rPr b="1" lang="en-US" sz="1050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Puntualidad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5"/>
          <p:cNvSpPr/>
          <p:nvPr/>
        </p:nvSpPr>
        <p:spPr>
          <a:xfrm>
            <a:off x="4434840" y="3986784"/>
            <a:ext cx="4389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Dato &gt;5 min antiguo o timestamp futuro → rechazado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5"/>
          <p:cNvSpPr/>
          <p:nvPr/>
        </p:nvSpPr>
        <p:spPr>
          <a:xfrm>
            <a:off x="182880" y="4297680"/>
            <a:ext cx="8778240" cy="59436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65760" y="4315968"/>
            <a:ext cx="84124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📁  modelo.py está en la raíz del proyecto, lo importan tanto el concentrador como los generadores.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Cambiar un rango físico en un solo sitio actualiza toda la validación.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 · Concentrador FastAPI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18288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731520" y="1005840"/>
            <a:ext cx="457200" cy="457200"/>
          </a:xfrm>
          <a:prstGeom prst="ellipse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73152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25603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Llega POST /datos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+ API Key header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175564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192024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2468880" y="1005840"/>
            <a:ext cx="457200" cy="457200"/>
          </a:xfrm>
          <a:prstGeom prst="ellipse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246888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199339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verificar_api_key()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→ 401 si no válida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349300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365760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4206240" y="1005840"/>
            <a:ext cx="457200" cy="457200"/>
          </a:xfrm>
          <a:prstGeom prst="ellipse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20624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373075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Pydantic valida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6 dimensiones → 422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523036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539496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5943600" y="1005840"/>
            <a:ext cx="457200" cy="457200"/>
          </a:xfrm>
          <a:prstGeom prst="ellipse">
            <a:avLst/>
          </a:prstGeom>
          <a:solidFill>
            <a:srgbClr val="FF7043"/>
          </a:solidFill>
          <a:ln cap="flat" cmpd="sng" w="1270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594360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546811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Guardar en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6967728" y="1618488"/>
            <a:ext cx="155448" cy="36576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7132320" y="960120"/>
            <a:ext cx="1554480" cy="1371600"/>
          </a:xfrm>
          <a:prstGeom prst="rect">
            <a:avLst/>
          </a:prstGeom>
          <a:solidFill>
            <a:srgbClr val="05294A"/>
          </a:solidFill>
          <a:ln cap="flat" cmpd="sng" w="1905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7680960" y="1005840"/>
            <a:ext cx="457200" cy="457200"/>
          </a:xfrm>
          <a:prstGeom prst="ellipse">
            <a:avLst/>
          </a:prstGeom>
          <a:solidFill>
            <a:srgbClr val="CE93D8"/>
          </a:solidFill>
          <a:ln cap="flat" cmpd="sng" w="1270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7680960" y="1005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7205472" y="1536192"/>
            <a:ext cx="1417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Actualizar memoria FastApi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2880" y="251460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Endpoints expuestos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82880" y="2926080"/>
            <a:ext cx="685800" cy="347472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182880" y="2926080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POST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932688" y="292608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/datos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2606040" y="292608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Recibe y valida el dato de una turbina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4572000" y="2926080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4572000" y="2926080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5321808" y="2926080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/estado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6995160" y="292608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Estado en tiempo real del parque (panel web)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182880" y="3502152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182880" y="3502152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932688" y="350215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/lecturas/recientes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2606040" y="35021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Últimas 50 lecturas válidas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4572000" y="3502152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4572000" y="3502152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5321808" y="3502152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/rechazados/recientes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6995160" y="35021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Últimos 30 datos rechazados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182880" y="4078224"/>
            <a:ext cx="685800" cy="347472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82880" y="4078224"/>
            <a:ext cx="685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GET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932688" y="4078224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/agregados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2606040" y="4078224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Histórico de agregados minutales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182880" y="4645152"/>
            <a:ext cx="8778240" cy="320040"/>
          </a:xfrm>
          <a:prstGeom prst="rect">
            <a:avLst/>
          </a:prstGeom>
          <a:solidFill>
            <a:srgbClr val="05294A"/>
          </a:solidFill>
          <a:ln cap="flat" cmpd="sng" w="9525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320040" y="4645152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900"/>
              <a:buFont typeface="Consolas"/>
              <a:buNone/>
            </a:pPr>
            <a:r>
              <a:rPr lang="en-US" sz="900">
                <a:solidFill>
                  <a:srgbClr val="FFD740"/>
                </a:solidFill>
                <a:latin typeface="Consolas"/>
                <a:ea typeface="Consolas"/>
                <a:cs typeface="Consolas"/>
                <a:sym typeface="Consolas"/>
              </a:rPr>
              <a:t>⏱  tarea_agregacion_minutal()  →  asyncio.sleep(60)  →  INSERT INTO agregados_minutales ... GROUP BY turbina, minuto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7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 · Generadores individuales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2" name="Google Shape;242;p7"/>
          <p:cNvGrpSpPr/>
          <p:nvPr/>
        </p:nvGrpSpPr>
        <p:grpSpPr>
          <a:xfrm>
            <a:off x="182880" y="822960"/>
            <a:ext cx="4572000" cy="2926080"/>
            <a:chOff x="182880" y="822960"/>
            <a:chExt cx="4572000" cy="2926080"/>
          </a:xfrm>
        </p:grpSpPr>
        <p:graphicFrame>
          <p:nvGraphicFramePr>
            <p:cNvPr id="243" name="Google Shape;243;p7"/>
            <p:cNvGraphicFramePr/>
            <p:nvPr/>
          </p:nvGraphicFramePr>
          <p:xfrm>
            <a:off x="182880" y="822960"/>
            <a:ext cx="4389120" cy="2926080"/>
          </p:xfrm>
          <a:graphic>
            <a:graphicData uri="http://schemas.openxmlformats.org/drawingml/2006/chart">
              <c:chart r:id="rId3"/>
            </a:graphicData>
          </a:graphic>
        </p:graphicFrame>
        <p:sp>
          <p:nvSpPr>
            <p:cNvPr id="244" name="Google Shape;244;p7"/>
            <p:cNvSpPr/>
            <p:nvPr/>
          </p:nvSpPr>
          <p:spPr>
            <a:xfrm>
              <a:off x="391703" y="2468880"/>
              <a:ext cx="822900" cy="4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D740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D740"/>
                  </a:solidFill>
                  <a:latin typeface="Calibri"/>
                  <a:ea typeface="Calibri"/>
                  <a:cs typeface="Calibri"/>
                  <a:sym typeface="Calibri"/>
                </a:rPr>
                <a:t>Cut-in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D740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D740"/>
                  </a:solidFill>
                  <a:latin typeface="Calibri"/>
                  <a:ea typeface="Calibri"/>
                  <a:cs typeface="Calibri"/>
                  <a:sym typeface="Calibri"/>
                </a:rPr>
                <a:t>3 m/s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7"/>
            <p:cNvSpPr/>
            <p:nvPr/>
          </p:nvSpPr>
          <p:spPr>
            <a:xfrm>
              <a:off x="2711187" y="2468880"/>
              <a:ext cx="914400" cy="41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00D68F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Rated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00D68F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12 m/s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7"/>
            <p:cNvSpPr/>
            <p:nvPr/>
          </p:nvSpPr>
          <p:spPr>
            <a:xfrm>
              <a:off x="3931920" y="2468880"/>
              <a:ext cx="822960" cy="411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5252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5252"/>
                  </a:solidFill>
                  <a:latin typeface="Calibri"/>
                  <a:ea typeface="Calibri"/>
                  <a:cs typeface="Calibri"/>
                  <a:sym typeface="Calibri"/>
                </a:rPr>
                <a:t>Cut-out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5252"/>
                </a:buClr>
                <a:buSzPts val="800"/>
                <a:buFont typeface="Calibri"/>
                <a:buNone/>
              </a:pPr>
              <a:r>
                <a:rPr lang="en-US" sz="800">
                  <a:solidFill>
                    <a:srgbClr val="FF5252"/>
                  </a:solidFill>
                  <a:latin typeface="Calibri"/>
                  <a:ea typeface="Calibri"/>
                  <a:cs typeface="Calibri"/>
                  <a:sym typeface="Calibri"/>
                </a:rPr>
                <a:t>25 m/s</a:t>
              </a: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p7"/>
          <p:cNvSpPr/>
          <p:nvPr/>
        </p:nvSpPr>
        <p:spPr>
          <a:xfrm>
            <a:off x="4754880" y="82296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Diferencias entre turbinas (via variables de entorno)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8" name="Google Shape;248;p7"/>
          <p:cNvGraphicFramePr/>
          <p:nvPr/>
        </p:nvGraphicFramePr>
        <p:xfrm>
          <a:off x="4754880" y="11887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{40F4C8DC-9B22-4493-AA9A-FF226E0E957E}</a:tableStyleId>
              </a:tblPr>
              <a:tblGrid>
                <a:gridCol w="1280150"/>
                <a:gridCol w="1005850"/>
                <a:gridCol w="1005850"/>
                <a:gridCol w="914400"/>
              </a:tblGrid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Turbina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Nominal kW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Viento m/s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P(error)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A7EA4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turbina_01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2000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12.0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10%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turbina_02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2500 ⬆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13.5 ⬆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8%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turbina_03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1800 ⬇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10.5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15% ⬆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3000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14.0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5% ★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  <a:tr h="426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turbina_08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1900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11.5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F4F8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E8F4F8"/>
                          </a:solidFill>
                        </a:rPr>
                        <a:t>20% ⚠</a:t>
                      </a:r>
                      <a:endParaRPr sz="10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5294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5294A"/>
                    </a:solidFill>
                  </a:tcPr>
                </a:tc>
              </a:tr>
            </a:tbl>
          </a:graphicData>
        </a:graphic>
      </p:graphicFrame>
      <p:sp>
        <p:nvSpPr>
          <p:cNvPr id="249" name="Google Shape;249;p7"/>
          <p:cNvSpPr/>
          <p:nvPr/>
        </p:nvSpPr>
        <p:spPr>
          <a:xfrm>
            <a:off x="182880" y="3840480"/>
            <a:ext cx="8778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5252"/>
                </a:solidFill>
                <a:latin typeface="Calibri"/>
                <a:ea typeface="Calibri"/>
                <a:cs typeface="Calibri"/>
                <a:sym typeface="Calibri"/>
              </a:rPr>
              <a:t>Tipos de error inyectados: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182880" y="4206240"/>
            <a:ext cx="2834640" cy="6858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52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274320" y="4233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FF5252"/>
                </a:solidFill>
                <a:latin typeface="Consolas"/>
                <a:ea typeface="Consolas"/>
                <a:cs typeface="Consolas"/>
                <a:sym typeface="Consolas"/>
              </a:rPr>
              <a:t>fuera_rango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274320" y="448056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Valor físicamente imposible en un campo aleatorio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3172968" y="4206240"/>
            <a:ext cx="2834640" cy="6858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52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3264408" y="4233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FF5252"/>
                </a:solidFill>
                <a:latin typeface="Consolas"/>
                <a:ea typeface="Consolas"/>
                <a:cs typeface="Consolas"/>
                <a:sym typeface="Consolas"/>
              </a:rPr>
              <a:t>marcado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3264408" y="448056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es_erroneo: True — el generador avisa al concentrador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6163056" y="4206240"/>
            <a:ext cx="2834640" cy="6858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52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54496" y="4233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252"/>
              </a:buClr>
              <a:buSzPts val="1000"/>
              <a:buFont typeface="Consolas"/>
              <a:buNone/>
            </a:pPr>
            <a:r>
              <a:rPr b="1" lang="en-US" sz="1000">
                <a:solidFill>
                  <a:srgbClr val="FF5252"/>
                </a:solidFill>
                <a:latin typeface="Consolas"/>
                <a:ea typeface="Consolas"/>
                <a:cs typeface="Consolas"/>
                <a:sym typeface="Consolas"/>
              </a:rPr>
              <a:t>negativo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6254496" y="4480560"/>
            <a:ext cx="2651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Valor negativo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06-07 · Panel web y seguridad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182880" y="868680"/>
            <a:ext cx="5029200" cy="393192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182880" y="868680"/>
            <a:ext cx="5029200" cy="32004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182880" y="8686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Panel Web en Tiempo Real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8"/>
          <p:cNvSpPr/>
          <p:nvPr/>
        </p:nvSpPr>
        <p:spPr>
          <a:xfrm>
            <a:off x="365760" y="36576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KPIs: potencia total, aceptados, rechazados, tasa error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365760" y="38862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Grid de 10 turbinas con estado y potencia en tiempo real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365760" y="41148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Gráfico de barras de potencia por turbina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365760" y="43434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Log en vivo de datos aceptados y rechazados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365760" y="4572000"/>
            <a:ext cx="47548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 </a:t>
            </a:r>
            <a:r>
              <a:rPr lang="en-US" sz="9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Tabla de últimos rechazos con motivo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5394960" y="868680"/>
            <a:ext cx="3566160" cy="182880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5394960" y="868680"/>
            <a:ext cx="3566160" cy="320040"/>
          </a:xfrm>
          <a:prstGeom prst="rect">
            <a:avLst/>
          </a:prstGeom>
          <a:solidFill>
            <a:srgbClr val="2E7D32"/>
          </a:solidFill>
          <a:ln cap="flat" cmpd="sng" w="12700">
            <a:solidFill>
              <a:srgbClr val="2E7D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76" name="Google Shape;27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0680" y="89611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8"/>
          <p:cNvSpPr/>
          <p:nvPr/>
        </p:nvSpPr>
        <p:spPr>
          <a:xfrm>
            <a:off x="5742432" y="8686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Seguridad: API Key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5532120" y="1261872"/>
            <a:ext cx="3291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Cada turbina incluye en la cabecera HTTP:</a:t>
            </a:r>
            <a:b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00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x-api-key: parque_eolico_secreto</a:t>
            </a:r>
            <a:br>
              <a:rPr lang="en-US" sz="100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lang="en-US" sz="100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Sin la clave → 401 Unauthorized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Con clave incorrecta → acceso denegado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5394960" y="2834640"/>
            <a:ext cx="3566160" cy="1965960"/>
          </a:xfrm>
          <a:prstGeom prst="rect">
            <a:avLst/>
          </a:prstGeom>
          <a:solidFill>
            <a:srgbClr val="071A2E"/>
          </a:solidFill>
          <a:ln cap="flat" cmpd="sng" w="9525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5394960" y="2834640"/>
            <a:ext cx="3566160" cy="32004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81" name="Google Shape;28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40680" y="2862072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8"/>
          <p:cNvSpPr/>
          <p:nvPr/>
        </p:nvSpPr>
        <p:spPr>
          <a:xfrm>
            <a:off x="5742432" y="283464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Persistencia: PostgreSQL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5532120" y="32461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lecturas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7406640" y="32461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Todas las lecturas válidas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5532120" y="3721608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rechazados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7406640" y="3721608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Datos inválidos + motivo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532120" y="4197096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950"/>
              <a:buFont typeface="Consolas"/>
              <a:buNone/>
            </a:pPr>
            <a:r>
              <a:rPr b="1" lang="en-US" sz="9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agregados_minutales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7406640" y="4197096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Media/total por turbina/min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3638" y="1212975"/>
            <a:ext cx="4647679" cy="2420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9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9"/>
          <p:cNvSpPr/>
          <p:nvPr/>
        </p:nvSpPr>
        <p:spPr>
          <a:xfrm>
            <a:off x="320040" y="256032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 Compose 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4617720" y="822960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4617720" y="822960"/>
            <a:ext cx="54864" cy="914400"/>
          </a:xfrm>
          <a:prstGeom prst="rect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9"/>
          <p:cNvSpPr/>
          <p:nvPr/>
        </p:nvSpPr>
        <p:spPr>
          <a:xfrm>
            <a:off x="475488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1 imagen, 10 comportamientos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9"/>
          <p:cNvSpPr/>
          <p:nvPr/>
        </p:nvSpPr>
        <p:spPr>
          <a:xfrm>
            <a:off x="4754880" y="1207008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Todos los generadores usan el mismo Dockerfile pero con variables de entorno distintas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4617720" y="1847088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4617720" y="1847088"/>
            <a:ext cx="54864" cy="914400"/>
          </a:xfrm>
          <a:prstGeom prst="rect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9"/>
          <p:cNvSpPr/>
          <p:nvPr/>
        </p:nvSpPr>
        <p:spPr>
          <a:xfrm>
            <a:off x="4754880" y="189280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depends_on asegura el orden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4754880" y="2231136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Las turbinas esperan al concentrador. El concentrador espera a base_datos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4617720" y="2871216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4617720" y="2871216"/>
            <a:ext cx="54864" cy="914400"/>
          </a:xfrm>
          <a:prstGeom prst="rect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4754880" y="29169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Volumen nombrado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4754880" y="3255264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volumen_postgres persiste los datos. docker compose down no los borra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4617720" y="3895344"/>
            <a:ext cx="4343400" cy="9144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4617720" y="3895344"/>
            <a:ext cx="54864" cy="914400"/>
          </a:xfrm>
          <a:prstGeom prst="rect">
            <a:avLst/>
          </a:prstGeom>
          <a:solidFill>
            <a:srgbClr val="7BAFC8"/>
          </a:solidFill>
          <a:ln cap="flat" cmpd="sng" w="12700">
            <a:solidFill>
              <a:srgbClr val="7BA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4754880" y="394106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PYTHONUNBUFFERED=1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754880" y="4279392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Los prints aparecen al instante en los logs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3" name="Google Shape;313;p9"/>
          <p:cNvGrpSpPr/>
          <p:nvPr/>
        </p:nvGrpSpPr>
        <p:grpSpPr>
          <a:xfrm>
            <a:off x="833035" y="713237"/>
            <a:ext cx="3006527" cy="4289280"/>
            <a:chOff x="182300" y="822950"/>
            <a:chExt cx="2949890" cy="4208478"/>
          </a:xfrm>
        </p:grpSpPr>
        <p:pic>
          <p:nvPicPr>
            <p:cNvPr id="314" name="Google Shape;314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83650" y="822950"/>
              <a:ext cx="2948540" cy="2093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5" name="Google Shape;315;p9"/>
            <p:cNvPicPr preferRelativeResize="0"/>
            <p:nvPr/>
          </p:nvPicPr>
          <p:blipFill rotWithShape="1">
            <a:blip r:embed="rId4">
              <a:alphaModFix/>
            </a:blip>
            <a:srcRect b="0" l="0" r="11087" t="0"/>
            <a:stretch/>
          </p:blipFill>
          <p:spPr>
            <a:xfrm>
              <a:off x="182300" y="2916925"/>
              <a:ext cx="2948550" cy="211450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Google Shape;321;g39683255e89_0_2"/>
          <p:cNvGrpSpPr/>
          <p:nvPr/>
        </p:nvGrpSpPr>
        <p:grpSpPr>
          <a:xfrm>
            <a:off x="3291895" y="1657345"/>
            <a:ext cx="2560200" cy="1828800"/>
            <a:chOff x="3337570" y="1657345"/>
            <a:chExt cx="2560200" cy="1828800"/>
          </a:xfrm>
        </p:grpSpPr>
        <p:sp>
          <p:nvSpPr>
            <p:cNvPr id="322" name="Google Shape;322;g39683255e89_0_2"/>
            <p:cNvSpPr/>
            <p:nvPr/>
          </p:nvSpPr>
          <p:spPr>
            <a:xfrm>
              <a:off x="3337570" y="1657345"/>
              <a:ext cx="2560200" cy="1828800"/>
            </a:xfrm>
            <a:prstGeom prst="rect">
              <a:avLst/>
            </a:prstGeom>
            <a:solidFill>
              <a:srgbClr val="05294A"/>
            </a:solidFill>
            <a:ln cap="flat" cmpd="sng" w="12700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101600" rotWithShape="0" algn="bl" dir="8100000" dist="25400">
                <a:srgbClr val="94A3B8">
                  <a:alpha val="149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g39683255e89_0_2"/>
            <p:cNvSpPr/>
            <p:nvPr/>
          </p:nvSpPr>
          <p:spPr>
            <a:xfrm>
              <a:off x="3337570" y="1657345"/>
              <a:ext cx="2560200" cy="50400"/>
            </a:xfrm>
            <a:prstGeom prst="rect">
              <a:avLst/>
            </a:prstGeom>
            <a:solidFill>
              <a:srgbClr val="D97706"/>
            </a:solidFill>
            <a:ln cap="flat" cmpd="sng" w="12700">
              <a:solidFill>
                <a:srgbClr val="D9770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g39683255e89_0_2"/>
            <p:cNvSpPr/>
            <p:nvPr/>
          </p:nvSpPr>
          <p:spPr>
            <a:xfrm>
              <a:off x="3447298" y="1748785"/>
              <a:ext cx="2340900" cy="4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D97706"/>
                </a:buClr>
                <a:buSzPts val="1100"/>
                <a:buFont typeface="Calibri"/>
                <a:buNone/>
              </a:pPr>
              <a:r>
                <a:rPr b="1" i="0" lang="en-US" sz="1100" u="none" cap="none" strike="noStrike">
                  <a:solidFill>
                    <a:srgbClr val="D97706"/>
                  </a:solidFill>
                  <a:latin typeface="Calibri"/>
                  <a:ea typeface="Calibri"/>
                  <a:cs typeface="Calibri"/>
                  <a:sym typeface="Calibri"/>
                </a:rPr>
                <a:t>🔔  Sistema de alertas</a:t>
              </a:r>
              <a:endPara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g39683255e89_0_2"/>
            <p:cNvSpPr/>
            <p:nvPr/>
          </p:nvSpPr>
          <p:spPr>
            <a:xfrm>
              <a:off x="3447298" y="2205985"/>
              <a:ext cx="2340900" cy="18300"/>
            </a:xfrm>
            <a:prstGeom prst="rect">
              <a:avLst/>
            </a:prstGeom>
            <a:solidFill>
              <a:srgbClr val="CBD5E1"/>
            </a:solidFill>
            <a:ln cap="flat" cmpd="sng" w="127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g39683255e89_0_2"/>
            <p:cNvSpPr/>
            <p:nvPr/>
          </p:nvSpPr>
          <p:spPr>
            <a:xfrm>
              <a:off x="3447298" y="2279137"/>
              <a:ext cx="23409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Calibri"/>
                <a:buNone/>
              </a:pP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Notificaciones automáticas cuando los valores 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superen umbrales</a:t>
              </a: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.</a:t>
              </a:r>
              <a:endPara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7" name="Google Shape;327;g39683255e89_0_2"/>
          <p:cNvGrpSpPr/>
          <p:nvPr/>
        </p:nvGrpSpPr>
        <p:grpSpPr>
          <a:xfrm>
            <a:off x="6281800" y="1657350"/>
            <a:ext cx="2560200" cy="1820025"/>
            <a:chOff x="6281800" y="1657350"/>
            <a:chExt cx="2560200" cy="1820025"/>
          </a:xfrm>
        </p:grpSpPr>
        <p:sp>
          <p:nvSpPr>
            <p:cNvPr id="328" name="Google Shape;328;g39683255e89_0_2"/>
            <p:cNvSpPr/>
            <p:nvPr/>
          </p:nvSpPr>
          <p:spPr>
            <a:xfrm>
              <a:off x="6286598" y="1698975"/>
              <a:ext cx="2555400" cy="1778400"/>
            </a:xfrm>
            <a:prstGeom prst="rect">
              <a:avLst/>
            </a:prstGeom>
            <a:solidFill>
              <a:srgbClr val="05294A"/>
            </a:solidFill>
            <a:ln cap="flat" cmpd="sng" w="10150">
              <a:solidFill>
                <a:srgbClr val="00D68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g39683255e89_0_2"/>
            <p:cNvSpPr/>
            <p:nvPr/>
          </p:nvSpPr>
          <p:spPr>
            <a:xfrm>
              <a:off x="6281800" y="1657350"/>
              <a:ext cx="2560200" cy="71100"/>
            </a:xfrm>
            <a:prstGeom prst="rect">
              <a:avLst/>
            </a:prstGeom>
            <a:solidFill>
              <a:srgbClr val="00D68F"/>
            </a:solidFill>
            <a:ln cap="flat" cmpd="sng" w="12700">
              <a:solidFill>
                <a:srgbClr val="00D68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g39683255e89_0_2"/>
            <p:cNvSpPr/>
            <p:nvPr/>
          </p:nvSpPr>
          <p:spPr>
            <a:xfrm>
              <a:off x="6391533" y="1748790"/>
              <a:ext cx="2340900" cy="4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059669"/>
                </a:buClr>
                <a:buSzPts val="1100"/>
                <a:buFont typeface="Calibri"/>
                <a:buNone/>
              </a:pPr>
              <a:r>
                <a:rPr b="1" i="0" lang="en-US" sz="1100" u="none" cap="none" strike="noStrike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🔄  </a:t>
              </a:r>
              <a:r>
                <a:rPr b="1" lang="en-US" sz="1100">
                  <a:solidFill>
                    <a:srgbClr val="00D68F"/>
                  </a:solidFill>
                  <a:latin typeface="Calibri"/>
                  <a:ea typeface="Calibri"/>
                  <a:cs typeface="Calibri"/>
                  <a:sym typeface="Calibri"/>
                </a:rPr>
                <a:t>Websockets</a:t>
              </a:r>
              <a:endParaRPr b="0" i="0" sz="1100" u="none" cap="none" strike="noStrike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g39683255e89_0_2"/>
            <p:cNvSpPr/>
            <p:nvPr/>
          </p:nvSpPr>
          <p:spPr>
            <a:xfrm>
              <a:off x="6391533" y="2205990"/>
              <a:ext cx="2340900" cy="18300"/>
            </a:xfrm>
            <a:prstGeom prst="rect">
              <a:avLst/>
            </a:prstGeom>
            <a:solidFill>
              <a:srgbClr val="CBD5E1"/>
            </a:solidFill>
            <a:ln cap="flat" cmpd="sng" w="127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g39683255e89_0_2"/>
            <p:cNvSpPr/>
            <p:nvPr/>
          </p:nvSpPr>
          <p:spPr>
            <a:xfrm>
              <a:off x="6391533" y="2279142"/>
              <a:ext cx="23409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Calibri"/>
                <a:buNone/>
              </a:pP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En lugar de polling, para actualizaciones en tiempo real.</a:t>
              </a:r>
              <a:endPara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3" name="Google Shape;333;g39683255e89_0_2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g39683255e89_0_2"/>
          <p:cNvSpPr/>
          <p:nvPr/>
        </p:nvSpPr>
        <p:spPr>
          <a:xfrm>
            <a:off x="320040" y="256032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2600"/>
              <a:buFont typeface="Calibri"/>
              <a:buNone/>
            </a:pPr>
            <a:r>
              <a:rPr b="1"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08 · Posibles Vías de Mejora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35" name="Google Shape;335;g39683255e89_0_2"/>
          <p:cNvGrpSpPr/>
          <p:nvPr/>
        </p:nvGrpSpPr>
        <p:grpSpPr>
          <a:xfrm>
            <a:off x="301984" y="1654022"/>
            <a:ext cx="2560216" cy="1826678"/>
            <a:chOff x="502909" y="1659472"/>
            <a:chExt cx="2560216" cy="1826678"/>
          </a:xfrm>
        </p:grpSpPr>
        <p:sp>
          <p:nvSpPr>
            <p:cNvPr id="336" name="Google Shape;336;g39683255e89_0_2"/>
            <p:cNvSpPr/>
            <p:nvPr/>
          </p:nvSpPr>
          <p:spPr>
            <a:xfrm>
              <a:off x="502925" y="1707750"/>
              <a:ext cx="2560200" cy="1778400"/>
            </a:xfrm>
            <a:prstGeom prst="rect">
              <a:avLst/>
            </a:prstGeom>
            <a:solidFill>
              <a:srgbClr val="05294A"/>
            </a:solidFill>
            <a:ln cap="flat" cmpd="sng" w="10150">
              <a:solidFill>
                <a:srgbClr val="00C8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g39683255e89_0_2"/>
            <p:cNvSpPr/>
            <p:nvPr/>
          </p:nvSpPr>
          <p:spPr>
            <a:xfrm>
              <a:off x="612658" y="1748785"/>
              <a:ext cx="2340900" cy="43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2563EB"/>
                </a:buClr>
                <a:buSzPts val="1100"/>
                <a:buFont typeface="Calibri"/>
                <a:buNone/>
              </a:pPr>
              <a:r>
                <a:rPr b="1" i="0" lang="en-US" sz="1100" u="none" cap="none" strike="noStrike">
                  <a:solidFill>
                    <a:srgbClr val="00C8FF"/>
                  </a:solidFill>
                  <a:latin typeface="Calibri"/>
                  <a:ea typeface="Calibri"/>
                  <a:cs typeface="Calibri"/>
                  <a:sym typeface="Calibri"/>
                </a:rPr>
                <a:t>📊  </a:t>
              </a:r>
              <a:r>
                <a:rPr b="1" lang="en-US" sz="1100">
                  <a:solidFill>
                    <a:srgbClr val="00C8FF"/>
                  </a:solidFill>
                  <a:latin typeface="Calibri"/>
                  <a:ea typeface="Calibri"/>
                  <a:cs typeface="Calibri"/>
                  <a:sym typeface="Calibri"/>
                </a:rPr>
                <a:t>Grafana + InfluxDB </a:t>
              </a:r>
              <a:endParaRPr b="0" i="0" sz="11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g39683255e89_0_2"/>
            <p:cNvSpPr/>
            <p:nvPr/>
          </p:nvSpPr>
          <p:spPr>
            <a:xfrm>
              <a:off x="612658" y="2205985"/>
              <a:ext cx="2340900" cy="18300"/>
            </a:xfrm>
            <a:prstGeom prst="rect">
              <a:avLst/>
            </a:prstGeom>
            <a:solidFill>
              <a:srgbClr val="CBD5E1"/>
            </a:solidFill>
            <a:ln cap="flat" cmpd="sng" w="12700">
              <a:solidFill>
                <a:srgbClr val="CBD5E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g39683255e89_0_2"/>
            <p:cNvSpPr/>
            <p:nvPr/>
          </p:nvSpPr>
          <p:spPr>
            <a:xfrm>
              <a:off x="612658" y="2279137"/>
              <a:ext cx="2340900" cy="109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Calibri"/>
                <a:buNone/>
              </a:pP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Integrar Grafana conectado a 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InfluxDB </a:t>
              </a: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para una visualiza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ción</a:t>
              </a:r>
              <a:r>
                <a:rPr b="0" i="0" lang="en-US" sz="1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</a:t>
              </a:r>
              <a:r>
                <a:rPr lang="en-US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avanzada.</a:t>
              </a:r>
              <a:endParaRPr b="0" i="0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0" name="Google Shape;340;g39683255e89_0_2"/>
            <p:cNvSpPr/>
            <p:nvPr/>
          </p:nvSpPr>
          <p:spPr>
            <a:xfrm rot="5400000">
              <a:off x="1745059" y="417322"/>
              <a:ext cx="71100" cy="2555400"/>
            </a:xfrm>
            <a:prstGeom prst="rect">
              <a:avLst/>
            </a:prstGeom>
            <a:solidFill>
              <a:srgbClr val="00C8FF"/>
            </a:solidFill>
            <a:ln cap="flat" cmpd="sng" w="12700">
              <a:solidFill>
                <a:srgbClr val="00C8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9683255e89_0_41"/>
          <p:cNvSpPr/>
          <p:nvPr/>
        </p:nvSpPr>
        <p:spPr>
          <a:xfrm>
            <a:off x="502920" y="164592"/>
            <a:ext cx="8412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2600"/>
              <a:buFont typeface="Calibri"/>
              <a:buNone/>
            </a:pP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· Problemas y Retos Encontrados</a:t>
            </a:r>
            <a:endParaRPr b="0" i="0" sz="2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g39683255e89_0_41"/>
          <p:cNvSpPr/>
          <p:nvPr/>
        </p:nvSpPr>
        <p:spPr>
          <a:xfrm>
            <a:off x="525880" y="1097273"/>
            <a:ext cx="8366700" cy="7131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0596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g39683255e89_0_41"/>
          <p:cNvSpPr/>
          <p:nvPr/>
        </p:nvSpPr>
        <p:spPr>
          <a:xfrm>
            <a:off x="525880" y="1097273"/>
            <a:ext cx="50400" cy="7131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9683255e89_0_41"/>
          <p:cNvSpPr/>
          <p:nvPr/>
        </p:nvSpPr>
        <p:spPr>
          <a:xfrm>
            <a:off x="663040" y="1161281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🔢  </a:t>
            </a: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 contenedores con el mismo Dockerfile</a:t>
            </a:r>
            <a:endParaRPr b="1"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g39683255e89_0_41"/>
          <p:cNvSpPr/>
          <p:nvPr/>
        </p:nvSpPr>
        <p:spPr>
          <a:xfrm>
            <a:off x="663040" y="1444745"/>
            <a:ext cx="4114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Calibri"/>
              <a:buNone/>
            </a:pPr>
            <a:r>
              <a:rPr lang="en-US" sz="9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Docker Compose los construye una sola vez  y los lanza con configuración distinta.</a:t>
            </a:r>
            <a:endParaRPr b="0" i="0" sz="9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g39683255e89_0_41"/>
          <p:cNvSpPr/>
          <p:nvPr/>
        </p:nvSpPr>
        <p:spPr>
          <a:xfrm>
            <a:off x="525880" y="2203783"/>
            <a:ext cx="8366700" cy="7131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g39683255e89_0_41"/>
          <p:cNvSpPr/>
          <p:nvPr/>
        </p:nvSpPr>
        <p:spPr>
          <a:xfrm>
            <a:off x="5006440" y="1207001"/>
            <a:ext cx="3794700" cy="512100"/>
          </a:xfrm>
          <a:prstGeom prst="rect">
            <a:avLst/>
          </a:prstGeom>
          <a:solidFill>
            <a:srgbClr val="D1FAE5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0596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g39683255e89_0_41"/>
          <p:cNvSpPr/>
          <p:nvPr/>
        </p:nvSpPr>
        <p:spPr>
          <a:xfrm>
            <a:off x="5070448" y="1207001"/>
            <a:ext cx="36576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Calibri"/>
              <a:buNone/>
            </a:pPr>
            <a:r>
              <a:rPr b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✅  Inyectamos variables de entorno únicas: POTENCIA_NOMINAL, PROB_ERROR, VIENTO_MEDIO.</a:t>
            </a:r>
            <a:endParaRPr b="1" sz="900">
              <a:solidFill>
                <a:srgbClr val="0596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g39683255e89_0_41"/>
          <p:cNvSpPr/>
          <p:nvPr/>
        </p:nvSpPr>
        <p:spPr>
          <a:xfrm>
            <a:off x="525880" y="2203783"/>
            <a:ext cx="50400" cy="7131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g39683255e89_0_41"/>
          <p:cNvSpPr/>
          <p:nvPr/>
        </p:nvSpPr>
        <p:spPr>
          <a:xfrm>
            <a:off x="663040" y="2267779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⏱️  </a:t>
            </a: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Arranque</a:t>
            </a:r>
            <a:endParaRPr b="0" i="0" sz="11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g39683255e89_0_41"/>
          <p:cNvSpPr/>
          <p:nvPr/>
        </p:nvSpPr>
        <p:spPr>
          <a:xfrm>
            <a:off x="663040" y="2551255"/>
            <a:ext cx="4114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Calibri"/>
              <a:buNone/>
            </a:pPr>
            <a:r>
              <a:rPr lang="en-US" sz="9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PostgreSQL tarda en inicializarse, por lo que el concentrador establece la conexión cuando la BD está lista.</a:t>
            </a:r>
            <a:endParaRPr b="0" i="0" sz="9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g39683255e89_0_41"/>
          <p:cNvSpPr/>
          <p:nvPr/>
        </p:nvSpPr>
        <p:spPr>
          <a:xfrm>
            <a:off x="576280" y="3401553"/>
            <a:ext cx="8366700" cy="7131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1B2D5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g39683255e89_0_41"/>
          <p:cNvSpPr/>
          <p:nvPr/>
        </p:nvSpPr>
        <p:spPr>
          <a:xfrm>
            <a:off x="5006440" y="2313511"/>
            <a:ext cx="3794700" cy="512100"/>
          </a:xfrm>
          <a:prstGeom prst="rect">
            <a:avLst/>
          </a:prstGeom>
          <a:solidFill>
            <a:srgbClr val="D1FAE5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9683255e89_0_41"/>
          <p:cNvSpPr/>
          <p:nvPr/>
        </p:nvSpPr>
        <p:spPr>
          <a:xfrm>
            <a:off x="5070448" y="2313511"/>
            <a:ext cx="36576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✅  </a:t>
            </a:r>
            <a:r>
              <a:rPr b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Uso de depends_on en Docker Compose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g39683255e89_0_41"/>
          <p:cNvSpPr/>
          <p:nvPr/>
        </p:nvSpPr>
        <p:spPr>
          <a:xfrm>
            <a:off x="576280" y="3401553"/>
            <a:ext cx="50400" cy="713100"/>
          </a:xfrm>
          <a:prstGeom prst="rect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g39683255e89_0_41"/>
          <p:cNvSpPr/>
          <p:nvPr/>
        </p:nvSpPr>
        <p:spPr>
          <a:xfrm>
            <a:off x="713440" y="3465561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📋  Validación de errores inyectados vs errores de rango</a:t>
            </a:r>
            <a:endParaRPr b="1" sz="11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g39683255e89_0_41"/>
          <p:cNvSpPr/>
          <p:nvPr/>
        </p:nvSpPr>
        <p:spPr>
          <a:xfrm>
            <a:off x="713440" y="3749025"/>
            <a:ext cx="4114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00"/>
              <a:buFont typeface="Calibri"/>
              <a:buNone/>
            </a:pPr>
            <a:r>
              <a:rPr lang="en-US" sz="9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Algunos datos erróneos (por avería) pasan la validación de Pydantic si el valor erróneo está dentro de rango.</a:t>
            </a:r>
            <a:endParaRPr b="0" i="0" sz="9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g39683255e89_0_41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g39683255e89_0_41"/>
          <p:cNvSpPr/>
          <p:nvPr/>
        </p:nvSpPr>
        <p:spPr>
          <a:xfrm>
            <a:off x="5056840" y="3511281"/>
            <a:ext cx="3794700" cy="512100"/>
          </a:xfrm>
          <a:prstGeom prst="rect">
            <a:avLst/>
          </a:prstGeom>
          <a:solidFill>
            <a:srgbClr val="D1FAE5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g39683255e89_0_41"/>
          <p:cNvSpPr/>
          <p:nvPr/>
        </p:nvSpPr>
        <p:spPr>
          <a:xfrm>
            <a:off x="5120848" y="3511281"/>
            <a:ext cx="36576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✅  Añadir</a:t>
            </a:r>
            <a:r>
              <a:rPr b="1" i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 es_erroneo: true</a:t>
            </a:r>
            <a:r>
              <a:rPr lang="en-US" sz="1000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b="1" lang="en-US" sz="9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 JSON</a:t>
            </a: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9683255e89_0_78"/>
          <p:cNvSpPr/>
          <p:nvPr/>
        </p:nvSpPr>
        <p:spPr>
          <a:xfrm>
            <a:off x="502920" y="164592"/>
            <a:ext cx="8412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D5B"/>
              </a:buClr>
              <a:buSzPts val="2600"/>
              <a:buFont typeface="Calibri"/>
              <a:buNone/>
            </a:pPr>
            <a:r>
              <a:rPr b="1"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1" i="0" lang="en-US" sz="2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· Alternativas Posibles</a:t>
            </a:r>
            <a:endParaRPr b="0" i="0" sz="2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g39683255e89_0_78"/>
          <p:cNvSpPr/>
          <p:nvPr/>
        </p:nvSpPr>
        <p:spPr>
          <a:xfrm>
            <a:off x="411480" y="1463040"/>
            <a:ext cx="41604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g39683255e89_0_78"/>
          <p:cNvSpPr/>
          <p:nvPr/>
        </p:nvSpPr>
        <p:spPr>
          <a:xfrm>
            <a:off x="411480" y="1463040"/>
            <a:ext cx="50400" cy="10515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g39683255e89_0_78"/>
          <p:cNvSpPr/>
          <p:nvPr/>
        </p:nvSpPr>
        <p:spPr>
          <a:xfrm>
            <a:off x="566928" y="1545336"/>
            <a:ext cx="3840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InfluxDB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g39683255e89_0_78"/>
          <p:cNvSpPr/>
          <p:nvPr/>
        </p:nvSpPr>
        <p:spPr>
          <a:xfrm>
            <a:off x="566928" y="1883664"/>
            <a:ext cx="3840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InfluxDB sería más adecuado para series temporales, pero se eligió PostgreSQL por familiaridad y nos permite tener todo en un mismo sitio (datos válidos y registros de errores).</a:t>
            </a:r>
            <a:endParaRPr sz="10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9683255e89_0_78"/>
          <p:cNvSpPr/>
          <p:nvPr/>
        </p:nvSpPr>
        <p:spPr>
          <a:xfrm>
            <a:off x="388617" y="3426460"/>
            <a:ext cx="41604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g39683255e89_0_78"/>
          <p:cNvSpPr/>
          <p:nvPr/>
        </p:nvSpPr>
        <p:spPr>
          <a:xfrm>
            <a:off x="388618" y="3426460"/>
            <a:ext cx="50400" cy="10515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g39683255e89_0_78"/>
          <p:cNvSpPr/>
          <p:nvPr/>
        </p:nvSpPr>
        <p:spPr>
          <a:xfrm>
            <a:off x="544065" y="3508756"/>
            <a:ext cx="3840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63EB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MQTT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g39683255e89_0_78"/>
          <p:cNvSpPr/>
          <p:nvPr/>
        </p:nvSpPr>
        <p:spPr>
          <a:xfrm>
            <a:off x="544065" y="3847084"/>
            <a:ext cx="3840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En lugar de HTTP/REST se podría usar MQTT con el concentrador como suscriptor.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g39683255e89_0_78"/>
          <p:cNvSpPr/>
          <p:nvPr/>
        </p:nvSpPr>
        <p:spPr>
          <a:xfrm>
            <a:off x="4663440" y="1463040"/>
            <a:ext cx="41148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g39683255e89_0_78"/>
          <p:cNvSpPr/>
          <p:nvPr/>
        </p:nvSpPr>
        <p:spPr>
          <a:xfrm>
            <a:off x="4663440" y="1463040"/>
            <a:ext cx="50400" cy="10515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g39683255e89_0_78"/>
          <p:cNvSpPr/>
          <p:nvPr/>
        </p:nvSpPr>
        <p:spPr>
          <a:xfrm>
            <a:off x="4818888" y="1545336"/>
            <a:ext cx="3794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Panel web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g39683255e89_0_78"/>
          <p:cNvSpPr/>
          <p:nvPr/>
        </p:nvSpPr>
        <p:spPr>
          <a:xfrm>
            <a:off x="4818888" y="1883664"/>
            <a:ext cx="37947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Grafana conectado directamente a PostgreSQL daría un panel mucho más potente.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9683255e89_0_78"/>
          <p:cNvSpPr/>
          <p:nvPr/>
        </p:nvSpPr>
        <p:spPr>
          <a:xfrm>
            <a:off x="4640577" y="3426460"/>
            <a:ext cx="4114800" cy="1051500"/>
          </a:xfrm>
          <a:prstGeom prst="rect">
            <a:avLst/>
          </a:prstGeom>
          <a:solidFill>
            <a:srgbClr val="05294A"/>
          </a:solidFill>
          <a:ln cap="flat" cmpd="sng" w="12700">
            <a:solidFill>
              <a:srgbClr val="0529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25400">
              <a:srgbClr val="94A3B8">
                <a:alpha val="1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g39683255e89_0_78"/>
          <p:cNvSpPr/>
          <p:nvPr/>
        </p:nvSpPr>
        <p:spPr>
          <a:xfrm>
            <a:off x="4640578" y="3426460"/>
            <a:ext cx="50400" cy="10515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g39683255e89_0_78"/>
          <p:cNvSpPr/>
          <p:nvPr/>
        </p:nvSpPr>
        <p:spPr>
          <a:xfrm>
            <a:off x="4796026" y="3508756"/>
            <a:ext cx="37947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g39683255e89_0_78"/>
          <p:cNvSpPr/>
          <p:nvPr/>
        </p:nvSpPr>
        <p:spPr>
          <a:xfrm>
            <a:off x="4796026" y="3847084"/>
            <a:ext cx="37947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En lugar de Pydantic se podría usar jsonschema o marshmallow.</a:t>
            </a:r>
            <a:endParaRPr b="0" i="0" sz="10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g39683255e89_0_78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101E"/>
        </a:solid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0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A7EA4"/>
          </a:solidFill>
          <a:ln cap="flat" cmpd="sng" w="12700">
            <a:solidFill>
              <a:srgbClr val="0A7EA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320040" y="256032"/>
            <a:ext cx="8503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0"/>
          <p:cNvSpPr/>
          <p:nvPr/>
        </p:nvSpPr>
        <p:spPr>
          <a:xfrm>
            <a:off x="182880" y="914400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0"/>
          <p:cNvSpPr/>
          <p:nvPr/>
        </p:nvSpPr>
        <p:spPr>
          <a:xfrm>
            <a:off x="292608" y="1261872"/>
            <a:ext cx="411600" cy="411600"/>
          </a:xfrm>
          <a:prstGeom prst="ellipse">
            <a:avLst/>
          </a:prstGeom>
          <a:solidFill>
            <a:srgbClr val="00C8FF"/>
          </a:solidFill>
          <a:ln cap="flat" cmpd="sng" w="12700">
            <a:solidFill>
              <a:srgbClr val="00C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292608" y="1261872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822960" y="960120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Arrancar el sistema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822960" y="1261872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docker compose up --build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822960" y="1737360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Construye imágenes y lanza los 14 contenedores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2880" y="2258568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292608" y="2606040"/>
            <a:ext cx="411600" cy="411600"/>
          </a:xfrm>
          <a:prstGeom prst="ellipse">
            <a:avLst/>
          </a:prstGeom>
          <a:solidFill>
            <a:srgbClr val="00D68F"/>
          </a:solidFill>
          <a:ln cap="flat" cmpd="sng" w="12700">
            <a:solidFill>
              <a:srgbClr val="00D6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292608" y="260604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822960" y="2304288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68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00D68F"/>
                </a:solidFill>
                <a:latin typeface="Calibri"/>
                <a:ea typeface="Calibri"/>
                <a:cs typeface="Calibri"/>
                <a:sym typeface="Calibri"/>
              </a:rPr>
              <a:t>Abrir el panel web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822960" y="2606040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http://localhost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822960" y="3081528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Ver turbinas en tiempo real, gráfico de potencia y log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182880" y="3602736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292608" y="3950208"/>
            <a:ext cx="411600" cy="411600"/>
          </a:xfrm>
          <a:prstGeom prst="ellipse">
            <a:avLst/>
          </a:prstGeom>
          <a:solidFill>
            <a:srgbClr val="FFD740"/>
          </a:solidFill>
          <a:ln cap="flat" cmpd="sng" w="12700">
            <a:solidFill>
              <a:srgbClr val="FFD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292608" y="3950208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0"/>
          <p:cNvSpPr/>
          <p:nvPr/>
        </p:nvSpPr>
        <p:spPr>
          <a:xfrm>
            <a:off x="822960" y="3648456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40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D740"/>
                </a:solidFill>
                <a:latin typeface="Calibri"/>
                <a:ea typeface="Calibri"/>
                <a:cs typeface="Calibri"/>
                <a:sym typeface="Calibri"/>
              </a:rPr>
              <a:t>Ver FastAPI Docs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0"/>
          <p:cNvSpPr/>
          <p:nvPr/>
        </p:nvSpPr>
        <p:spPr>
          <a:xfrm>
            <a:off x="822960" y="3950208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http://localhost:8000/docs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822960" y="4425696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Probar endpoints manualmente, enviar datos de prueba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4663440" y="914400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0"/>
          <p:cNvSpPr/>
          <p:nvPr/>
        </p:nvSpPr>
        <p:spPr>
          <a:xfrm>
            <a:off x="4773168" y="1261872"/>
            <a:ext cx="411600" cy="411600"/>
          </a:xfrm>
          <a:prstGeom prst="ellipse">
            <a:avLst/>
          </a:prstGeom>
          <a:solidFill>
            <a:srgbClr val="FF7043"/>
          </a:solidFill>
          <a:ln cap="flat" cmpd="sng" w="12700">
            <a:solidFill>
              <a:srgbClr val="FF704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0"/>
          <p:cNvSpPr/>
          <p:nvPr/>
        </p:nvSpPr>
        <p:spPr>
          <a:xfrm>
            <a:off x="4773168" y="1261872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5303520" y="960120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7043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7043"/>
                </a:solidFill>
                <a:latin typeface="Calibri"/>
                <a:ea typeface="Calibri"/>
                <a:cs typeface="Calibri"/>
                <a:sym typeface="Calibri"/>
              </a:rPr>
              <a:t>Demostrar rechazo sin API Key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5303520" y="1261872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curl -X POST http://localhost:8000/datos \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  -H "Content-Type: application/json" \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  -d '{"turbina_id":"intruso",...}'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5303520" y="1737360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→  401 Unauthorized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4663440" y="2258568"/>
            <a:ext cx="4297800" cy="1234500"/>
          </a:xfrm>
          <a:prstGeom prst="rect">
            <a:avLst/>
          </a:prstGeom>
          <a:solidFill>
            <a:srgbClr val="05294A"/>
          </a:solidFill>
          <a:ln cap="flat" cmpd="sng" w="1015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4773168" y="2606040"/>
            <a:ext cx="411600" cy="411600"/>
          </a:xfrm>
          <a:prstGeom prst="ellipse">
            <a:avLst/>
          </a:prstGeom>
          <a:solidFill>
            <a:srgbClr val="CE93D8"/>
          </a:solidFill>
          <a:ln cap="flat" cmpd="sng" w="12700">
            <a:solidFill>
              <a:srgbClr val="CE93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4773168" y="2606040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4101E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04101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0"/>
          <p:cNvSpPr/>
          <p:nvPr/>
        </p:nvSpPr>
        <p:spPr>
          <a:xfrm>
            <a:off x="5303520" y="2304288"/>
            <a:ext cx="35205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E93D8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CE93D8"/>
                </a:solidFill>
                <a:latin typeface="Calibri"/>
                <a:ea typeface="Calibri"/>
                <a:cs typeface="Calibri"/>
                <a:sym typeface="Calibri"/>
              </a:rPr>
              <a:t>Consultar PostgreSQL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0"/>
          <p:cNvSpPr/>
          <p:nvPr/>
        </p:nvSpPr>
        <p:spPr>
          <a:xfrm>
            <a:off x="5303520" y="2606040"/>
            <a:ext cx="352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FF"/>
              </a:buClr>
              <a:buSzPts val="850"/>
              <a:buFont typeface="Consolas"/>
              <a:buNone/>
            </a:pPr>
            <a:r>
              <a:rPr lang="en-US" sz="850">
                <a:solidFill>
                  <a:srgbClr val="00C8FF"/>
                </a:solidFill>
                <a:latin typeface="Consolas"/>
                <a:ea typeface="Consolas"/>
                <a:cs typeface="Consolas"/>
                <a:sym typeface="Consolas"/>
              </a:rPr>
              <a:t>docker exec -it base_datos psql -U deusto -d parque_eolico_db</a:t>
            </a:r>
            <a:endParaRPr sz="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0"/>
          <p:cNvSpPr/>
          <p:nvPr/>
        </p:nvSpPr>
        <p:spPr>
          <a:xfrm>
            <a:off x="5303520" y="3081528"/>
            <a:ext cx="352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C8"/>
              </a:buClr>
              <a:buSzPts val="900"/>
              <a:buFont typeface="Calibri"/>
              <a:buNone/>
            </a:pPr>
            <a:r>
              <a:rPr i="1" lang="en-US" sz="900">
                <a:solidFill>
                  <a:srgbClr val="7BAFC8"/>
                </a:solidFill>
                <a:latin typeface="Calibri"/>
                <a:ea typeface="Calibri"/>
                <a:cs typeface="Calibri"/>
                <a:sym typeface="Calibri"/>
              </a:rPr>
              <a:t>SELECT turbina_id, COUNT(*) FROM rechazados GROUP BY 1;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2026-03-25T08:58:10Z</dcterms:created>
  <dc:creator>PptxGenJS</dc:creator>
</cp:coreProperties>
</file>