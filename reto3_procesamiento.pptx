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FUxaeLGRi9tHthp+sw56WwLk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05B823-8925-4A5E-9D9E-75A97187B68C}">
  <a:tblStyle styleId="{6705B823-8925-4A5E-9D9E-75A97187B6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F4F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F4F8"/>
                </a:solidFill>
                <a:latin typeface="Arial"/>
              </a:rPr>
              <a:t>Curva de potencia (2 MW)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Potencia (%)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C8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0-3
m/s</c:v>
                </c:pt>
                <c:pt idx="1">
                  <c:v>6
m/s</c:v>
                </c:pt>
                <c:pt idx="2">
                  <c:v>9
m/s</c:v>
                </c:pt>
                <c:pt idx="3">
                  <c:v>12
m/s</c:v>
                </c:pt>
                <c:pt idx="4">
                  <c:v>15
m/s</c:v>
                </c:pt>
                <c:pt idx="5">
                  <c:v>25+
m/s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15</c:v>
                </c:pt>
                <c:pt idx="2">
                  <c:v>42</c:v>
                </c:pt>
                <c:pt idx="3">
                  <c:v>100</c:v>
                </c:pt>
                <c:pt idx="4">
                  <c:v>100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1-4C2C-9BAE-AFE7ADFA6B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410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d2615fdc14_0_2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" name="Google Shape;10;g3d2615fdc14_0_2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d2615fdc14_0_2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" name="Google Shape;16;g3d2615fdc14_0_2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Cada 60 segundos, esta tarea agrupa las lecturas por turbina, calcula las medias y las inserta en una tabla de agregados minutales.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Este gráfico demuestra cómo se realiza el cálculo de la potencia generado en función del viento,  respetando los límites de arranque (cut-in) y frenado de emergencia (cut-out)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683255e8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9683255e8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9683255e89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683255e89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9683255e89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9683255e89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83255e89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683255e89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683255e89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2" name="Google Shape;12;g3d2615fdc14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d2615fdc14_0_24"/>
          <p:cNvSpPr/>
          <p:nvPr/>
        </p:nvSpPr>
        <p:spPr>
          <a:xfrm>
            <a:off x="248248" y="4223625"/>
            <a:ext cx="2844900" cy="457200"/>
          </a:xfrm>
          <a:prstGeom prst="rect">
            <a:avLst/>
          </a:prstGeom>
          <a:solidFill>
            <a:srgbClr val="0410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Juan Mari Díaz, Unai Pinilla e Imanol Lama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esta diapositiva" id="18" name="Google Shape;18;g3d2615fdc14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Descripción del reto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28600" y="960120"/>
            <a:ext cx="2788920" cy="347472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365760" y="16916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60" y="2103120"/>
            <a:ext cx="2514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Parque eólico con 10 generadores y un concentrador. Probabilidad N de datos erróneos por generador.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172968" y="960120"/>
            <a:ext cx="2788920" cy="347472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3310128" y="16916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Concentrador FastAPI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310128" y="2103120"/>
            <a:ext cx="2514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Valida los datos recibidos. Realiza agregaciones: media de producción del parque y agregados minutales.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117336" y="960120"/>
            <a:ext cx="2788920" cy="347472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10972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/>
          <p:nvPr/>
        </p:nvSpPr>
        <p:spPr>
          <a:xfrm>
            <a:off x="6254496" y="16916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Generadores individuales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254496" y="2103120"/>
            <a:ext cx="2514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Programas independientes que generan datos sintéticos distintos. Extras: seguridad + persistencia.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0A7EA4">
              <a:alpha val="30196"/>
            </a:srgbClr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✓  Extras implementados:  Seguridad con API Key  ·  Persistencia con PostgreSQL  ·  Panel web en tiempo real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Arquitectura del sistema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2880" y="9144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10 TURBINAS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82880" y="1298448"/>
            <a:ext cx="2011680" cy="50292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28600" y="13716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turbina_01  ·  2000 kW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82880" y="1938528"/>
            <a:ext cx="2011680" cy="50292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12A0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28600" y="20116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turbina_02  ·  2500 kW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82880" y="2578608"/>
            <a:ext cx="2011680" cy="50292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28600" y="26517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turbina_03  ·  1800 kW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82880" y="3218688"/>
            <a:ext cx="2011680" cy="50292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12A0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28600" y="329184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turbina_04  ·  2200 kW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82880" y="3858768"/>
            <a:ext cx="2011680" cy="50292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28600" y="39319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turbina_05  ·  3000 kW 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37180" y="4375406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... turbina_06 → turbina_10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286000" y="2286000"/>
            <a:ext cx="1371600" cy="36576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240280" y="233172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POST /datos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+ API Key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749040" y="960120"/>
            <a:ext cx="2834640" cy="3566160"/>
          </a:xfrm>
          <a:prstGeom prst="rect">
            <a:avLst/>
          </a:prstGeom>
          <a:solidFill>
            <a:srgbClr val="071A2E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749040" y="960120"/>
            <a:ext cx="2834640" cy="32004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749040" y="960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CONCENTRADOR FastAPI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86200" y="13716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🔑  Verifica API Key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886200" y="18288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✅  Valida con Pydantic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86200" y="22860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     6 dimensiones calidad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886200" y="27432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💾  Guarda en PostgreSQL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86200" y="32004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📊  Agrega minutalmente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886200" y="365760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📡  Expone endpoints REST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675120" y="2286000"/>
            <a:ext cx="822960" cy="36576"/>
          </a:xfrm>
          <a:prstGeom prst="rect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543800" y="1645920"/>
            <a:ext cx="1417320" cy="137160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128" y="1737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543800" y="219456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68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D68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543800" y="2487168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lecturas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rechazados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agregados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675120" y="3383280"/>
            <a:ext cx="822960" cy="36576"/>
          </a:xfrm>
          <a:prstGeom prst="rect">
            <a:avLst/>
          </a:prstGeom>
          <a:solidFill>
            <a:srgbClr val="FFD740"/>
          </a:solidFill>
          <a:ln cap="flat" cmpd="sng" w="1270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543800" y="3108960"/>
            <a:ext cx="1417320" cy="100584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543800" y="32004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Panel Web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543800" y="34747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nginx + HTML/JS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polling 2s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82880" y="4663440"/>
            <a:ext cx="8778240" cy="320040"/>
          </a:xfrm>
          <a:prstGeom prst="rect">
            <a:avLst/>
          </a:prstGeom>
          <a:solidFill>
            <a:srgbClr val="0A7EA4">
              <a:alpha val="20000"/>
            </a:srgbClr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14 contenedores Docker  ·  10 turbinas + concentrador + base_datos + panel_web + nginx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Modelo de datos · modelo.py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82880" y="868680"/>
            <a:ext cx="3931920" cy="3200400"/>
          </a:xfrm>
          <a:prstGeom prst="rect">
            <a:avLst/>
          </a:prstGeom>
          <a:solidFill>
            <a:srgbClr val="071A2E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82880" y="868680"/>
            <a:ext cx="3931920" cy="347472"/>
          </a:xfrm>
          <a:prstGeom prst="rect">
            <a:avLst/>
          </a:prstGeom>
          <a:solidFill>
            <a:srgbClr val="0A7E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Campos de DatosTurbina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82880" y="868680"/>
            <a:ext cx="3931920" cy="347472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82880" y="8686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Campos de DatosTurbina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0040" y="129844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turbina_id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084832" y="129844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743200" y="12984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Identificador de la turbina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20040" y="16916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084832" y="169164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743200" y="16916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ms epoch 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20040" y="2084832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velocidad_viento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084832" y="208483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743200" y="208483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0 – 40 m/s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20040" y="2478024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potencia_generada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084832" y="2478024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2743200" y="2478024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0 – 3000 kW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20040" y="2871216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temperatura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084832" y="2871216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743200" y="287121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-20 – 80 °C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20040" y="3264408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rpm_rotor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084832" y="326440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0" y="32644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0 – 25 rpm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20040" y="36576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es_erroneo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084832" y="365760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743200" y="3657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El generador avisa del fallo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297680" y="868680"/>
            <a:ext cx="4663440" cy="32004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297680" y="8686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Dimensiones de Calidad del Dato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297680" y="1243584"/>
            <a:ext cx="45720" cy="402336"/>
          </a:xfrm>
          <a:prstGeom prst="rect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434840" y="124358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68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0D68F"/>
                </a:solidFill>
                <a:latin typeface="Calibri"/>
                <a:ea typeface="Calibri"/>
                <a:cs typeface="Calibri"/>
                <a:sym typeface="Calibri"/>
              </a:rPr>
              <a:t>Completitud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434840" y="147218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Todos los campos obligatorios. Si falta uno → 422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297680" y="1746504"/>
            <a:ext cx="45720" cy="402336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434840" y="174650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Exactitud</a:t>
            </a:r>
            <a:endParaRPr b="1" sz="1050">
              <a:solidFill>
                <a:srgbClr val="00C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434840" y="197510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Valores reales y dentro de los límites</a:t>
            </a:r>
            <a:endParaRPr sz="900">
              <a:solidFill>
                <a:srgbClr val="E8F4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297680" y="2249424"/>
            <a:ext cx="45720" cy="402336"/>
          </a:xfrm>
          <a:prstGeom prst="rect">
            <a:avLst/>
          </a:prstGeom>
          <a:solidFill>
            <a:srgbClr val="FFD740"/>
          </a:solidFill>
          <a:ln cap="flat" cmpd="sng" w="1270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434840" y="224942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Validez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434840" y="247802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El formato de los datos debe ser correcto, ej: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tipos correctos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297680" y="2752344"/>
            <a:ext cx="45720" cy="402336"/>
          </a:xfrm>
          <a:prstGeom prst="rect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434840" y="2752344"/>
            <a:ext cx="1828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Consistencia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434840" y="298094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Los datos deben tener sentido, ej: La relación de potencia generado con la velocidad del viento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297680" y="3255264"/>
            <a:ext cx="45720" cy="402336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434840" y="325526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Unicidad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434840" y="348386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existen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 datos duplicados (mismo registro enviado dos veces)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297680" y="3758184"/>
            <a:ext cx="45720" cy="40233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434840" y="375818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Puntualidad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434840" y="398678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Dato &gt;5 min antiguo o timestamp futuro → rechazado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82880" y="4297680"/>
            <a:ext cx="8778240" cy="59436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📁  modelo.py está en la raíz del proyecto, lo importan tanto el concentrador como los generadores.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Cambiar un rango físico en un solo sitio actualiza toda la validación.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Concentrador FastAPI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82880" y="960120"/>
            <a:ext cx="1554480" cy="1371600"/>
          </a:xfrm>
          <a:prstGeom prst="rect">
            <a:avLst/>
          </a:prstGeom>
          <a:solidFill>
            <a:srgbClr val="05294A"/>
          </a:solidFill>
          <a:ln cap="flat" cmpd="sng" w="190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31520" y="1005840"/>
            <a:ext cx="457200" cy="457200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3152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56032" y="1536192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Llega POST /datos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+ API Key header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755648" y="1618488"/>
            <a:ext cx="155448" cy="36576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920240" y="960120"/>
            <a:ext cx="1554480" cy="1371600"/>
          </a:xfrm>
          <a:prstGeom prst="rect">
            <a:avLst/>
          </a:prstGeom>
          <a:solidFill>
            <a:srgbClr val="05294A"/>
          </a:solidFill>
          <a:ln cap="flat" cmpd="sng" w="1905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468880" y="1005840"/>
            <a:ext cx="457200" cy="457200"/>
          </a:xfrm>
          <a:prstGeom prst="ellipse">
            <a:avLst/>
          </a:prstGeom>
          <a:solidFill>
            <a:srgbClr val="FFD740"/>
          </a:solidFill>
          <a:ln cap="flat" cmpd="sng" w="1270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46888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993392" y="1536192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verificar_api_key()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→ 401 si no válida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493008" y="1618488"/>
            <a:ext cx="155448" cy="36576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0" y="960120"/>
            <a:ext cx="1554480" cy="1371600"/>
          </a:xfrm>
          <a:prstGeom prst="rect">
            <a:avLst/>
          </a:prstGeom>
          <a:solidFill>
            <a:srgbClr val="05294A"/>
          </a:solidFill>
          <a:ln cap="flat" cmpd="sng" w="1905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206240" y="1005840"/>
            <a:ext cx="457200" cy="457200"/>
          </a:xfrm>
          <a:prstGeom prst="ellipse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20624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730752" y="1536192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Pydantic valida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6 dimensiones → 422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230368" y="1618488"/>
            <a:ext cx="155448" cy="36576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394960" y="960120"/>
            <a:ext cx="1554480" cy="1371600"/>
          </a:xfrm>
          <a:prstGeom prst="rect">
            <a:avLst/>
          </a:prstGeom>
          <a:solidFill>
            <a:srgbClr val="05294A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43600" y="1005840"/>
            <a:ext cx="457200" cy="457200"/>
          </a:xfrm>
          <a:prstGeom prst="ellipse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94360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68112" y="1536192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Guardar en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967728" y="1618488"/>
            <a:ext cx="155448" cy="36576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132320" y="960120"/>
            <a:ext cx="1554480" cy="1371600"/>
          </a:xfrm>
          <a:prstGeom prst="rect">
            <a:avLst/>
          </a:prstGeom>
          <a:solidFill>
            <a:srgbClr val="05294A"/>
          </a:solidFill>
          <a:ln cap="flat" cmpd="sng" w="1905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680960" y="1005840"/>
            <a:ext cx="457200" cy="457200"/>
          </a:xfrm>
          <a:prstGeom prst="ellipse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680960" y="1005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205472" y="1536192"/>
            <a:ext cx="1417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Actualizar memoria FastApi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82880" y="251460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Endpoints expuestos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82880" y="2926080"/>
            <a:ext cx="685800" cy="347472"/>
          </a:xfrm>
          <a:prstGeom prst="rect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82880" y="292608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932688" y="292608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/datos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606040" y="29260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Recibe y valida el dato de una turbina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0" y="2926080"/>
            <a:ext cx="685800" cy="347472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0" y="292608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321808" y="292608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/estado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995160" y="29260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Estado en tiempo real del parque (panel web)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82880" y="3502152"/>
            <a:ext cx="685800" cy="347472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82880" y="350215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32688" y="35021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/lecturas/recientes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606040" y="3502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Últimas 50 lecturas válidas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572000" y="3502152"/>
            <a:ext cx="685800" cy="347472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0" y="350215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321808" y="35021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/rechazados/recientes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995160" y="3502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Últimos 30 datos rechazados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82880" y="4078224"/>
            <a:ext cx="685800" cy="347472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82880" y="4078224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32688" y="407822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/agregados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606040" y="40782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Histórico de agregados minutales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82880" y="4645152"/>
            <a:ext cx="8778240" cy="320040"/>
          </a:xfrm>
          <a:prstGeom prst="rect">
            <a:avLst/>
          </a:prstGeom>
          <a:solidFill>
            <a:srgbClr val="05294A"/>
          </a:solidFill>
          <a:ln cap="flat" cmpd="sng" w="9525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FFD740"/>
                </a:solidFill>
                <a:latin typeface="Consolas"/>
                <a:ea typeface="Consolas"/>
                <a:cs typeface="Consolas"/>
                <a:sym typeface="Consolas"/>
              </a:rPr>
              <a:t>⏱  tarea_agregacion_minutal()  →  asyncio.sleep(60)  →  INSERT INTO agregados_minutales ... GROUP BY turbina, minuto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· Generadores individuales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7"/>
          <p:cNvGrpSpPr/>
          <p:nvPr/>
        </p:nvGrpSpPr>
        <p:grpSpPr>
          <a:xfrm>
            <a:off x="182880" y="822960"/>
            <a:ext cx="4572000" cy="2926080"/>
            <a:chOff x="182880" y="822960"/>
            <a:chExt cx="4572000" cy="2926080"/>
          </a:xfrm>
        </p:grpSpPr>
        <p:graphicFrame>
          <p:nvGraphicFramePr>
            <p:cNvPr id="197" name="Google Shape;197;p7"/>
            <p:cNvGraphicFramePr/>
            <p:nvPr/>
          </p:nvGraphicFramePr>
          <p:xfrm>
            <a:off x="182880" y="822960"/>
            <a:ext cx="4389120" cy="2926080"/>
          </p:xfrm>
          <a:graphic>
            <a:graphicData uri="http://schemas.openxmlformats.org/drawingml/2006/chart">
              <c:chart r:id="rId3"/>
            </a:graphicData>
          </a:graphic>
        </p:graphicFrame>
        <p:sp>
          <p:nvSpPr>
            <p:cNvPr id="198" name="Google Shape;198;p7"/>
            <p:cNvSpPr/>
            <p:nvPr/>
          </p:nvSpPr>
          <p:spPr>
            <a:xfrm>
              <a:off x="391703" y="2468880"/>
              <a:ext cx="8229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40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FFD740"/>
                  </a:solidFill>
                  <a:latin typeface="Calibri"/>
                  <a:ea typeface="Calibri"/>
                  <a:cs typeface="Calibri"/>
                  <a:sym typeface="Calibri"/>
                </a:rPr>
                <a:t>Cut-in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D740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FFD740"/>
                  </a:solidFill>
                  <a:latin typeface="Calibri"/>
                  <a:ea typeface="Calibri"/>
                  <a:cs typeface="Calibri"/>
                  <a:sym typeface="Calibri"/>
                </a:rPr>
                <a:t>3 m/s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2711187" y="2468880"/>
              <a:ext cx="9144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D68F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00D68F"/>
                  </a:solidFill>
                  <a:latin typeface="Calibri"/>
                  <a:ea typeface="Calibri"/>
                  <a:cs typeface="Calibri"/>
                  <a:sym typeface="Calibri"/>
                </a:rPr>
                <a:t>Rated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D68F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00D68F"/>
                  </a:solidFill>
                  <a:latin typeface="Calibri"/>
                  <a:ea typeface="Calibri"/>
                  <a:cs typeface="Calibri"/>
                  <a:sym typeface="Calibri"/>
                </a:rPr>
                <a:t>12 m/s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3931920" y="2468880"/>
              <a:ext cx="82296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5252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FF5252"/>
                  </a:solidFill>
                  <a:latin typeface="Calibri"/>
                  <a:ea typeface="Calibri"/>
                  <a:cs typeface="Calibri"/>
                  <a:sym typeface="Calibri"/>
                </a:rPr>
                <a:t>Cut-out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5252"/>
                </a:buClr>
                <a:buSzPts val="800"/>
                <a:buFont typeface="Calibri"/>
                <a:buNone/>
              </a:pPr>
              <a:r>
                <a:rPr lang="en-US" sz="800">
                  <a:solidFill>
                    <a:srgbClr val="FF5252"/>
                  </a:solidFill>
                  <a:latin typeface="Calibri"/>
                  <a:ea typeface="Calibri"/>
                  <a:cs typeface="Calibri"/>
                  <a:sym typeface="Calibri"/>
                </a:rPr>
                <a:t>25 m/s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/>
          <p:nvPr/>
        </p:nvSpPr>
        <p:spPr>
          <a:xfrm>
            <a:off x="4754880" y="8229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Diferencias entre turbinas (via variables de entorno)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7"/>
          <p:cNvGraphicFramePr/>
          <p:nvPr/>
        </p:nvGraphicFramePr>
        <p:xfrm>
          <a:off x="47548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{6705B823-8925-4A5E-9D9E-75A97187B68C}</a:tableStyleId>
              </a:tblPr>
              <a:tblGrid>
                <a:gridCol w="1280150"/>
                <a:gridCol w="1005850"/>
                <a:gridCol w="1005850"/>
                <a:gridCol w="91440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Turbina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Nominal kW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Viento m/s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P(error)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7EA4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turbina_01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2000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12.0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turbina_02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2500 ⬆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13.5 ⬆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8%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turbina_03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1800 ⬇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10.5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15% ⬆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turbina_05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3000 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14.0 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5% 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turbina_08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1900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11.5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F4F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E8F4F8"/>
                          </a:solidFill>
                        </a:rPr>
                        <a:t>20% ⚠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5294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294A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7"/>
          <p:cNvSpPr/>
          <p:nvPr/>
        </p:nvSpPr>
        <p:spPr>
          <a:xfrm>
            <a:off x="182880" y="3840480"/>
            <a:ext cx="8778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5252"/>
                </a:solidFill>
                <a:latin typeface="Calibri"/>
                <a:ea typeface="Calibri"/>
                <a:cs typeface="Calibri"/>
                <a:sym typeface="Calibri"/>
              </a:rPr>
              <a:t>Tipos de error inyectados: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82880" y="4206240"/>
            <a:ext cx="2834640" cy="6858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5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274320" y="4233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5252"/>
                </a:solidFill>
                <a:latin typeface="Consolas"/>
                <a:ea typeface="Consolas"/>
                <a:cs typeface="Consolas"/>
                <a:sym typeface="Consolas"/>
              </a:rPr>
              <a:t>fuera_rango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74320" y="4480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Valor físicamente imposible en un campo aleatorio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172968" y="4206240"/>
            <a:ext cx="2834640" cy="6858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5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264408" y="4233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5252"/>
                </a:solidFill>
                <a:latin typeface="Consolas"/>
                <a:ea typeface="Consolas"/>
                <a:cs typeface="Consolas"/>
                <a:sym typeface="Consolas"/>
              </a:rPr>
              <a:t>marcado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264408" y="4480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es_erroneo: True — el generador avisa al concentrador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163056" y="4206240"/>
            <a:ext cx="2834640" cy="6858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5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254496" y="4233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252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FF5252"/>
                </a:solidFill>
                <a:latin typeface="Consolas"/>
                <a:ea typeface="Consolas"/>
                <a:cs typeface="Consolas"/>
                <a:sym typeface="Consolas"/>
              </a:rPr>
              <a:t>negativo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254496" y="44805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Valor negativo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06-07 · Panel web y seguridad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82880" y="868680"/>
            <a:ext cx="5029200" cy="3931920"/>
          </a:xfrm>
          <a:prstGeom prst="rect">
            <a:avLst/>
          </a:prstGeom>
          <a:solidFill>
            <a:srgbClr val="071A2E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82880" y="868680"/>
            <a:ext cx="5029200" cy="32004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82880" y="8686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 Web en Tiempo Real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20040" y="1261872"/>
            <a:ext cx="4754880" cy="22860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70265" y="1280172"/>
            <a:ext cx="4755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[ CAPTURA DEL PANEL WEB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Insertar aquí screenshot 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http://localhost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65760" y="3657600"/>
            <a:ext cx="47548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KPIs: potencia total, aceptados, rechazados, tasa error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65760" y="3886200"/>
            <a:ext cx="47548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Grid de 10 turbinas con estado y potencia en tiempo real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65760" y="4114800"/>
            <a:ext cx="47548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Gráfico de barras de potencia por turbina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65760" y="4343400"/>
            <a:ext cx="47548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Log en vivo de datos aceptados y rechazados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365760" y="4572000"/>
            <a:ext cx="47548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9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Tabla de últimos rechazos con motivo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394960" y="868680"/>
            <a:ext cx="3566160" cy="1828800"/>
          </a:xfrm>
          <a:prstGeom prst="rect">
            <a:avLst/>
          </a:prstGeom>
          <a:solidFill>
            <a:srgbClr val="071A2E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394960" y="868680"/>
            <a:ext cx="3566160" cy="32004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680" y="896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5742432" y="868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Seguridad: API Key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532120" y="1261872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Cada turbina incluye en la cabecera HTTP:</a:t>
            </a:r>
            <a:b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x-api-key: parque_eolico_secreto</a:t>
            </a:r>
            <a:br>
              <a:rPr lang="en-US" sz="100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00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Sin la clave → 401 Unauthorized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Con clave incorrecta → acceso denegado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394960" y="2834640"/>
            <a:ext cx="3566160" cy="1965960"/>
          </a:xfrm>
          <a:prstGeom prst="rect">
            <a:avLst/>
          </a:prstGeom>
          <a:solidFill>
            <a:srgbClr val="071A2E"/>
          </a:solidFill>
          <a:ln cap="flat" cmpd="sng" w="9525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394960" y="2834640"/>
            <a:ext cx="3566160" cy="32004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0680" y="2862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5742432" y="28346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Persistencia: PostgreSQL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532120" y="3246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lecturas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7406640" y="32461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Todas las lecturas válidas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532120" y="37216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rechazados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06640" y="372160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Datos inválidos + motivo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532120" y="419709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agregados_minutales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406640" y="419709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Media/total por turbina/min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617720" y="822960"/>
            <a:ext cx="4343400" cy="9144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617720" y="822960"/>
            <a:ext cx="54864" cy="914400"/>
          </a:xfrm>
          <a:prstGeom prst="rect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1 imagen, 10 comportamientos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754880" y="120700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Todos los generadores usan el mismo Dockerfile pero con variables de entorno distintas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617720" y="1847088"/>
            <a:ext cx="4343400" cy="9144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617720" y="1847088"/>
            <a:ext cx="54864" cy="914400"/>
          </a:xfrm>
          <a:prstGeom prst="rect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754880" y="18928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68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D68F"/>
                </a:solidFill>
                <a:latin typeface="Calibri"/>
                <a:ea typeface="Calibri"/>
                <a:cs typeface="Calibri"/>
                <a:sym typeface="Calibri"/>
              </a:rPr>
              <a:t>depends_on asegura el orden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754880" y="223113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Las turbinas esperan al concentrador. El concentrador espera a base_datos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4617720" y="2871216"/>
            <a:ext cx="4343400" cy="9144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617720" y="2871216"/>
            <a:ext cx="54864" cy="914400"/>
          </a:xfrm>
          <a:prstGeom prst="rect">
            <a:avLst/>
          </a:prstGeom>
          <a:solidFill>
            <a:srgbClr val="FFD740"/>
          </a:solidFill>
          <a:ln cap="flat" cmpd="sng" w="1270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754880" y="291693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Volumen nombrado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754880" y="325526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volumen_postgres persiste los datos. docker compose down no los borra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617720" y="3895344"/>
            <a:ext cx="4343400" cy="9144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617720" y="3895344"/>
            <a:ext cx="54864" cy="914400"/>
          </a:xfrm>
          <a:prstGeom prst="rect">
            <a:avLst/>
          </a:prstGeom>
          <a:solidFill>
            <a:srgbClr val="7BAFC8"/>
          </a:solidFill>
          <a:ln cap="flat" cmpd="sng" w="12700">
            <a:solidFill>
              <a:srgbClr val="7BA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754880" y="394106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PYTHONUNBUFFERED=1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754880" y="427939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F4F8"/>
                </a:solidFill>
                <a:latin typeface="Calibri"/>
                <a:ea typeface="Calibri"/>
                <a:cs typeface="Calibri"/>
                <a:sym typeface="Calibri"/>
              </a:rPr>
              <a:t>Los prints aparecen al instante en los logs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9"/>
          <p:cNvGrpSpPr/>
          <p:nvPr/>
        </p:nvGrpSpPr>
        <p:grpSpPr>
          <a:xfrm>
            <a:off x="833035" y="713237"/>
            <a:ext cx="3006527" cy="4289280"/>
            <a:chOff x="182300" y="822950"/>
            <a:chExt cx="2949890" cy="4208478"/>
          </a:xfrm>
        </p:grpSpPr>
        <p:pic>
          <p:nvPicPr>
            <p:cNvPr id="269" name="Google Shape;2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3650" y="822950"/>
              <a:ext cx="2948540" cy="209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9"/>
            <p:cNvPicPr preferRelativeResize="0"/>
            <p:nvPr/>
          </p:nvPicPr>
          <p:blipFill rotWithShape="1">
            <a:blip r:embed="rId4">
              <a:alphaModFix/>
            </a:blip>
            <a:srcRect b="0" l="0" r="11087" t="0"/>
            <a:stretch/>
          </p:blipFill>
          <p:spPr>
            <a:xfrm>
              <a:off x="182300" y="2916925"/>
              <a:ext cx="2948550" cy="2114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g39683255e89_0_2"/>
          <p:cNvGrpSpPr/>
          <p:nvPr/>
        </p:nvGrpSpPr>
        <p:grpSpPr>
          <a:xfrm>
            <a:off x="3291895" y="1657345"/>
            <a:ext cx="2560200" cy="1828800"/>
            <a:chOff x="3337570" y="1657345"/>
            <a:chExt cx="2560200" cy="1828800"/>
          </a:xfrm>
        </p:grpSpPr>
        <p:sp>
          <p:nvSpPr>
            <p:cNvPr id="277" name="Google Shape;277;g39683255e89_0_2"/>
            <p:cNvSpPr/>
            <p:nvPr/>
          </p:nvSpPr>
          <p:spPr>
            <a:xfrm>
              <a:off x="3337570" y="1657345"/>
              <a:ext cx="2560200" cy="1828800"/>
            </a:xfrm>
            <a:prstGeom prst="rect">
              <a:avLst/>
            </a:prstGeom>
            <a:solidFill>
              <a:srgbClr val="05294A"/>
            </a:solidFill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25400">
                <a:srgbClr val="94A3B8">
                  <a:alpha val="1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g39683255e89_0_2"/>
            <p:cNvSpPr/>
            <p:nvPr/>
          </p:nvSpPr>
          <p:spPr>
            <a:xfrm>
              <a:off x="3337570" y="1657345"/>
              <a:ext cx="2560200" cy="50400"/>
            </a:xfrm>
            <a:prstGeom prst="rect">
              <a:avLst/>
            </a:prstGeom>
            <a:solidFill>
              <a:srgbClr val="D97706"/>
            </a:solidFill>
            <a:ln cap="flat" cmpd="sng" w="12700">
              <a:solidFill>
                <a:srgbClr val="D977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g39683255e89_0_2"/>
            <p:cNvSpPr/>
            <p:nvPr/>
          </p:nvSpPr>
          <p:spPr>
            <a:xfrm>
              <a:off x="3447298" y="1748785"/>
              <a:ext cx="23409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97706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🔔  Sistema de alertas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g39683255e89_0_2"/>
            <p:cNvSpPr/>
            <p:nvPr/>
          </p:nvSpPr>
          <p:spPr>
            <a:xfrm>
              <a:off x="3447298" y="2205985"/>
              <a:ext cx="2340900" cy="18300"/>
            </a:xfrm>
            <a:prstGeom prst="rect">
              <a:avLst/>
            </a:prstGeom>
            <a:solidFill>
              <a:srgbClr val="CBD5E1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g39683255e89_0_2"/>
            <p:cNvSpPr/>
            <p:nvPr/>
          </p:nvSpPr>
          <p:spPr>
            <a:xfrm>
              <a:off x="3447298" y="2279137"/>
              <a:ext cx="23409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Notificaciones automáticas cuando los valores </a:t>
              </a: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superen umbrales</a:t>
              </a:r>
              <a:r>
                <a:rPr b="0" i="0" lang="en-US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g39683255e89_0_2"/>
          <p:cNvGrpSpPr/>
          <p:nvPr/>
        </p:nvGrpSpPr>
        <p:grpSpPr>
          <a:xfrm>
            <a:off x="6281800" y="1657350"/>
            <a:ext cx="2560200" cy="1820025"/>
            <a:chOff x="6281800" y="1657350"/>
            <a:chExt cx="2560200" cy="1820025"/>
          </a:xfrm>
        </p:grpSpPr>
        <p:sp>
          <p:nvSpPr>
            <p:cNvPr id="283" name="Google Shape;283;g39683255e89_0_2"/>
            <p:cNvSpPr/>
            <p:nvPr/>
          </p:nvSpPr>
          <p:spPr>
            <a:xfrm>
              <a:off x="6286598" y="1698975"/>
              <a:ext cx="2555400" cy="1778400"/>
            </a:xfrm>
            <a:prstGeom prst="rect">
              <a:avLst/>
            </a:prstGeom>
            <a:solidFill>
              <a:srgbClr val="05294A"/>
            </a:solidFill>
            <a:ln cap="flat" cmpd="sng" w="10150">
              <a:solidFill>
                <a:srgbClr val="00D6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g39683255e89_0_2"/>
            <p:cNvSpPr/>
            <p:nvPr/>
          </p:nvSpPr>
          <p:spPr>
            <a:xfrm>
              <a:off x="6281800" y="1657350"/>
              <a:ext cx="2560200" cy="71100"/>
            </a:xfrm>
            <a:prstGeom prst="rect">
              <a:avLst/>
            </a:prstGeom>
            <a:solidFill>
              <a:srgbClr val="00D68F"/>
            </a:solidFill>
            <a:ln cap="flat" cmpd="sng" w="12700">
              <a:solidFill>
                <a:srgbClr val="00D6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g39683255e89_0_2"/>
            <p:cNvSpPr/>
            <p:nvPr/>
          </p:nvSpPr>
          <p:spPr>
            <a:xfrm>
              <a:off x="6391533" y="1748790"/>
              <a:ext cx="23409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00D68F"/>
                  </a:solidFill>
                  <a:latin typeface="Calibri"/>
                  <a:ea typeface="Calibri"/>
                  <a:cs typeface="Calibri"/>
                  <a:sym typeface="Calibri"/>
                </a:rPr>
                <a:t>🔄  </a:t>
              </a:r>
              <a:r>
                <a:rPr b="1" lang="en-US" sz="1100">
                  <a:solidFill>
                    <a:srgbClr val="00D68F"/>
                  </a:solidFill>
                  <a:latin typeface="Calibri"/>
                  <a:ea typeface="Calibri"/>
                  <a:cs typeface="Calibri"/>
                  <a:sym typeface="Calibri"/>
                </a:rPr>
                <a:t>Websockets</a:t>
              </a:r>
              <a:endParaRPr b="0" i="0" sz="1100" u="none" cap="none" strike="noStrike">
                <a:solidFill>
                  <a:srgbClr val="00D68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g39683255e89_0_2"/>
            <p:cNvSpPr/>
            <p:nvPr/>
          </p:nvSpPr>
          <p:spPr>
            <a:xfrm>
              <a:off x="6391533" y="2205990"/>
              <a:ext cx="2340900" cy="18300"/>
            </a:xfrm>
            <a:prstGeom prst="rect">
              <a:avLst/>
            </a:prstGeom>
            <a:solidFill>
              <a:srgbClr val="CBD5E1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g39683255e89_0_2"/>
            <p:cNvSpPr/>
            <p:nvPr/>
          </p:nvSpPr>
          <p:spPr>
            <a:xfrm>
              <a:off x="6391533" y="2279142"/>
              <a:ext cx="23409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 lugar de polling, para actualizaciones en tiempo real.</a:t>
              </a:r>
              <a:endPara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g39683255e89_0_2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9683255e89_0_2"/>
          <p:cNvSpPr/>
          <p:nvPr/>
        </p:nvSpPr>
        <p:spPr>
          <a:xfrm>
            <a:off x="320040" y="256032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26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 · Posibles Vías de Mejora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0" name="Google Shape;290;g39683255e89_0_2"/>
          <p:cNvGrpSpPr/>
          <p:nvPr/>
        </p:nvGrpSpPr>
        <p:grpSpPr>
          <a:xfrm>
            <a:off x="301984" y="1654022"/>
            <a:ext cx="2560216" cy="1826678"/>
            <a:chOff x="502909" y="1659472"/>
            <a:chExt cx="2560216" cy="1826678"/>
          </a:xfrm>
        </p:grpSpPr>
        <p:sp>
          <p:nvSpPr>
            <p:cNvPr id="291" name="Google Shape;291;g39683255e89_0_2"/>
            <p:cNvSpPr/>
            <p:nvPr/>
          </p:nvSpPr>
          <p:spPr>
            <a:xfrm>
              <a:off x="502925" y="1707750"/>
              <a:ext cx="2560200" cy="1778400"/>
            </a:xfrm>
            <a:prstGeom prst="rect">
              <a:avLst/>
            </a:prstGeom>
            <a:solidFill>
              <a:srgbClr val="05294A"/>
            </a:solidFill>
            <a:ln cap="flat" cmpd="sng" w="10150">
              <a:solidFill>
                <a:srgbClr val="00C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g39683255e89_0_2"/>
            <p:cNvSpPr/>
            <p:nvPr/>
          </p:nvSpPr>
          <p:spPr>
            <a:xfrm>
              <a:off x="612658" y="1748785"/>
              <a:ext cx="23409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00C8FF"/>
                  </a:solidFill>
                  <a:latin typeface="Calibri"/>
                  <a:ea typeface="Calibri"/>
                  <a:cs typeface="Calibri"/>
                  <a:sym typeface="Calibri"/>
                </a:rPr>
                <a:t>📊  </a:t>
              </a:r>
              <a:r>
                <a:rPr b="1" lang="en-US" sz="1100">
                  <a:solidFill>
                    <a:srgbClr val="00C8FF"/>
                  </a:solidFill>
                  <a:latin typeface="Calibri"/>
                  <a:ea typeface="Calibri"/>
                  <a:cs typeface="Calibri"/>
                  <a:sym typeface="Calibri"/>
                </a:rPr>
                <a:t>Grafana + InfluxDB </a:t>
              </a:r>
              <a:endParaRPr b="0" i="0" sz="1100" u="none" cap="none" strike="noStrike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g39683255e89_0_2"/>
            <p:cNvSpPr/>
            <p:nvPr/>
          </p:nvSpPr>
          <p:spPr>
            <a:xfrm>
              <a:off x="612658" y="2205985"/>
              <a:ext cx="2340900" cy="18300"/>
            </a:xfrm>
            <a:prstGeom prst="rect">
              <a:avLst/>
            </a:prstGeom>
            <a:solidFill>
              <a:srgbClr val="CBD5E1"/>
            </a:solidFill>
            <a:ln cap="flat" cmpd="sng" w="127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g39683255e89_0_2"/>
            <p:cNvSpPr/>
            <p:nvPr/>
          </p:nvSpPr>
          <p:spPr>
            <a:xfrm>
              <a:off x="612658" y="2279137"/>
              <a:ext cx="23409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Integrar Grafana conectado a </a:t>
              </a: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InfluxDB </a:t>
              </a:r>
              <a:r>
                <a:rPr b="0" i="0" lang="en-US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para una visualiza</a:t>
              </a: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ción</a:t>
              </a:r>
              <a:r>
                <a:rPr b="0" i="0" lang="en-US" sz="1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avanzada.</a:t>
              </a:r>
              <a:endPara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9683255e89_0_2"/>
            <p:cNvSpPr/>
            <p:nvPr/>
          </p:nvSpPr>
          <p:spPr>
            <a:xfrm rot="5400000">
              <a:off x="1745059" y="417322"/>
              <a:ext cx="71100" cy="2555400"/>
            </a:xfrm>
            <a:prstGeom prst="rect">
              <a:avLst/>
            </a:prstGeom>
            <a:solidFill>
              <a:srgbClr val="00C8FF"/>
            </a:solidFill>
            <a:ln cap="flat" cmpd="sng" w="12700">
              <a:solidFill>
                <a:srgbClr val="00C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683255e89_0_41"/>
          <p:cNvSpPr/>
          <p:nvPr/>
        </p:nvSpPr>
        <p:spPr>
          <a:xfrm>
            <a:off x="50292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26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Problemas y Retos Encontrados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9683255e89_0_41"/>
          <p:cNvSpPr/>
          <p:nvPr/>
        </p:nvSpPr>
        <p:spPr>
          <a:xfrm>
            <a:off x="525880" y="1097273"/>
            <a:ext cx="8366700" cy="7131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9683255e89_0_41"/>
          <p:cNvSpPr/>
          <p:nvPr/>
        </p:nvSpPr>
        <p:spPr>
          <a:xfrm>
            <a:off x="525880" y="1097273"/>
            <a:ext cx="50400" cy="7131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9683255e89_0_41"/>
          <p:cNvSpPr/>
          <p:nvPr/>
        </p:nvSpPr>
        <p:spPr>
          <a:xfrm>
            <a:off x="663040" y="1161281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🔢 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contenedores con el mismo Dockerfile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9683255e89_0_41"/>
          <p:cNvSpPr/>
          <p:nvPr/>
        </p:nvSpPr>
        <p:spPr>
          <a:xfrm>
            <a:off x="663040" y="1444745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Docker Compose los construye una sola vez  y los lanza con configuración distinta.</a:t>
            </a:r>
            <a:endParaRPr b="0" i="0" sz="9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9683255e89_0_41"/>
          <p:cNvSpPr/>
          <p:nvPr/>
        </p:nvSpPr>
        <p:spPr>
          <a:xfrm>
            <a:off x="525880" y="2203783"/>
            <a:ext cx="8366700" cy="7131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9683255e89_0_41"/>
          <p:cNvSpPr/>
          <p:nvPr/>
        </p:nvSpPr>
        <p:spPr>
          <a:xfrm>
            <a:off x="5006440" y="1207001"/>
            <a:ext cx="3794700" cy="51210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9683255e89_0_41"/>
          <p:cNvSpPr/>
          <p:nvPr/>
        </p:nvSpPr>
        <p:spPr>
          <a:xfrm>
            <a:off x="5070448" y="1207001"/>
            <a:ext cx="3657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Inyectamos variables de entorno únicas: POTENCIA_NOMINAL, PROB_ERROR, VIENTO_MEDIO.</a:t>
            </a:r>
            <a:endParaRPr b="1" sz="900">
              <a:solidFill>
                <a:srgbClr val="059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9683255e89_0_41"/>
          <p:cNvSpPr/>
          <p:nvPr/>
        </p:nvSpPr>
        <p:spPr>
          <a:xfrm>
            <a:off x="525880" y="2203783"/>
            <a:ext cx="50400" cy="7131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9683255e89_0_41"/>
          <p:cNvSpPr/>
          <p:nvPr/>
        </p:nvSpPr>
        <p:spPr>
          <a:xfrm>
            <a:off x="663040" y="2267779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⏱️  </a:t>
            </a: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Arranque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9683255e89_0_41"/>
          <p:cNvSpPr/>
          <p:nvPr/>
        </p:nvSpPr>
        <p:spPr>
          <a:xfrm>
            <a:off x="663040" y="2551255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PostgreSQL tarda en inicializarse, por lo que el concentrador establece la conexión cuando la BD está lista.</a:t>
            </a:r>
            <a:endParaRPr b="0" i="0" sz="9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9683255e89_0_41"/>
          <p:cNvSpPr/>
          <p:nvPr/>
        </p:nvSpPr>
        <p:spPr>
          <a:xfrm>
            <a:off x="576280" y="3401553"/>
            <a:ext cx="8366700" cy="7131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B2D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9683255e89_0_41"/>
          <p:cNvSpPr/>
          <p:nvPr/>
        </p:nvSpPr>
        <p:spPr>
          <a:xfrm>
            <a:off x="5006440" y="2313511"/>
            <a:ext cx="3794700" cy="51210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9683255e89_0_41"/>
          <p:cNvSpPr/>
          <p:nvPr/>
        </p:nvSpPr>
        <p:spPr>
          <a:xfrm>
            <a:off x="5070448" y="2313511"/>
            <a:ext cx="3657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Uso de depends_on en Docker Compose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9683255e89_0_41"/>
          <p:cNvSpPr/>
          <p:nvPr/>
        </p:nvSpPr>
        <p:spPr>
          <a:xfrm>
            <a:off x="576280" y="3401553"/>
            <a:ext cx="50400" cy="7131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9683255e89_0_41"/>
          <p:cNvSpPr/>
          <p:nvPr/>
        </p:nvSpPr>
        <p:spPr>
          <a:xfrm>
            <a:off x="713440" y="3465561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📋  Validación de errores inyectados vs errores de rango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9683255e89_0_41"/>
          <p:cNvSpPr/>
          <p:nvPr/>
        </p:nvSpPr>
        <p:spPr>
          <a:xfrm>
            <a:off x="713440" y="3749025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-US" sz="9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Algunos datos erróneos (por avería) pasan la validación de Pydantic si el valor erróneo está dentro de rango.</a:t>
            </a:r>
            <a:endParaRPr b="0" i="0" sz="9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9683255e89_0_41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9683255e89_0_41"/>
          <p:cNvSpPr/>
          <p:nvPr/>
        </p:nvSpPr>
        <p:spPr>
          <a:xfrm>
            <a:off x="5056840" y="3511281"/>
            <a:ext cx="3794700" cy="51210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9683255e89_0_41"/>
          <p:cNvSpPr/>
          <p:nvPr/>
        </p:nvSpPr>
        <p:spPr>
          <a:xfrm>
            <a:off x="5120848" y="3511281"/>
            <a:ext cx="3657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✅  Añadir</a:t>
            </a:r>
            <a:r>
              <a:rPr b="1" i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es_erroneo: true</a:t>
            </a:r>
            <a:r>
              <a:rPr lang="en-US" sz="1000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</a:t>
            </a:r>
            <a:r>
              <a:rPr b="1" lang="en-US" sz="9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JSON</a:t>
            </a:r>
            <a:r>
              <a:rPr b="1" i="0" lang="en-US" sz="9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683255e89_0_78"/>
          <p:cNvSpPr/>
          <p:nvPr/>
        </p:nvSpPr>
        <p:spPr>
          <a:xfrm>
            <a:off x="502920" y="16459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5B"/>
              </a:buClr>
              <a:buSzPts val="2600"/>
              <a:buFont typeface="Calibri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· Alternativas Posibles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9683255e89_0_78"/>
          <p:cNvSpPr/>
          <p:nvPr/>
        </p:nvSpPr>
        <p:spPr>
          <a:xfrm>
            <a:off x="411480" y="1463040"/>
            <a:ext cx="4160400" cy="10515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9683255e89_0_78"/>
          <p:cNvSpPr/>
          <p:nvPr/>
        </p:nvSpPr>
        <p:spPr>
          <a:xfrm>
            <a:off x="411480" y="1463040"/>
            <a:ext cx="50400" cy="1051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9683255e89_0_78"/>
          <p:cNvSpPr/>
          <p:nvPr/>
        </p:nvSpPr>
        <p:spPr>
          <a:xfrm>
            <a:off x="566928" y="1545336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InfluxDB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9683255e89_0_78"/>
          <p:cNvSpPr/>
          <p:nvPr/>
        </p:nvSpPr>
        <p:spPr>
          <a:xfrm>
            <a:off x="566928" y="1883664"/>
            <a:ext cx="3840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InfluxDB sería más adecuado para series temporales, pero se eligió PostgreSQL por familiaridad y nos permite tener todo en un mismo sitio (datos válidos y registros de errores).</a:t>
            </a:r>
            <a:endParaRPr sz="10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9683255e89_0_78"/>
          <p:cNvSpPr/>
          <p:nvPr/>
        </p:nvSpPr>
        <p:spPr>
          <a:xfrm>
            <a:off x="388617" y="3426460"/>
            <a:ext cx="4160400" cy="10515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9683255e89_0_78"/>
          <p:cNvSpPr/>
          <p:nvPr/>
        </p:nvSpPr>
        <p:spPr>
          <a:xfrm>
            <a:off x="388618" y="3426460"/>
            <a:ext cx="50400" cy="1051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9683255e89_0_78"/>
          <p:cNvSpPr/>
          <p:nvPr/>
        </p:nvSpPr>
        <p:spPr>
          <a:xfrm>
            <a:off x="544065" y="3508756"/>
            <a:ext cx="3840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9683255e89_0_78"/>
          <p:cNvSpPr/>
          <p:nvPr/>
        </p:nvSpPr>
        <p:spPr>
          <a:xfrm>
            <a:off x="544065" y="3847084"/>
            <a:ext cx="3840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En lugar de HTTP/REST se podría usar MQTT con el concentrador como suscriptor.</a:t>
            </a:r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9683255e89_0_78"/>
          <p:cNvSpPr/>
          <p:nvPr/>
        </p:nvSpPr>
        <p:spPr>
          <a:xfrm>
            <a:off x="4663440" y="1463040"/>
            <a:ext cx="4114800" cy="10515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9683255e89_0_78"/>
          <p:cNvSpPr/>
          <p:nvPr/>
        </p:nvSpPr>
        <p:spPr>
          <a:xfrm>
            <a:off x="4663440" y="1463040"/>
            <a:ext cx="50400" cy="1051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683255e89_0_78"/>
          <p:cNvSpPr/>
          <p:nvPr/>
        </p:nvSpPr>
        <p:spPr>
          <a:xfrm>
            <a:off x="4818888" y="1545336"/>
            <a:ext cx="3794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Panel web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9683255e89_0_78"/>
          <p:cNvSpPr/>
          <p:nvPr/>
        </p:nvSpPr>
        <p:spPr>
          <a:xfrm>
            <a:off x="4818888" y="1883664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Grafana conectado directamente a PostgreSQL daría un panel mucho más potente.</a:t>
            </a:r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9683255e89_0_78"/>
          <p:cNvSpPr/>
          <p:nvPr/>
        </p:nvSpPr>
        <p:spPr>
          <a:xfrm>
            <a:off x="4640577" y="3426460"/>
            <a:ext cx="4114800" cy="1051500"/>
          </a:xfrm>
          <a:prstGeom prst="rect">
            <a:avLst/>
          </a:prstGeom>
          <a:solidFill>
            <a:srgbClr val="05294A"/>
          </a:solidFill>
          <a:ln cap="flat" cmpd="sng" w="12700">
            <a:solidFill>
              <a:srgbClr val="0529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9683255e89_0_78"/>
          <p:cNvSpPr/>
          <p:nvPr/>
        </p:nvSpPr>
        <p:spPr>
          <a:xfrm>
            <a:off x="4640578" y="3426460"/>
            <a:ext cx="50400" cy="1051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9683255e89_0_78"/>
          <p:cNvSpPr/>
          <p:nvPr/>
        </p:nvSpPr>
        <p:spPr>
          <a:xfrm>
            <a:off x="4796026" y="3508756"/>
            <a:ext cx="3794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9683255e89_0_78"/>
          <p:cNvSpPr/>
          <p:nvPr/>
        </p:nvSpPr>
        <p:spPr>
          <a:xfrm>
            <a:off x="4796026" y="3847084"/>
            <a:ext cx="379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En lugar de Pydantic se podría usar jsonschema o marshmallow.</a:t>
            </a:r>
            <a:endParaRPr b="0" i="0" sz="10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9683255e89_0_78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01E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0A7EA4"/>
          </a:solidFill>
          <a:ln cap="flat" cmpd="sng" w="12700">
            <a:solidFill>
              <a:srgbClr val="0A7E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20040" y="256032"/>
            <a:ext cx="850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82880" y="914400"/>
            <a:ext cx="4297800" cy="12345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292608" y="1261872"/>
            <a:ext cx="411600" cy="411600"/>
          </a:xfrm>
          <a:prstGeom prst="ellipse">
            <a:avLst/>
          </a:prstGeom>
          <a:solidFill>
            <a:srgbClr val="00C8FF"/>
          </a:solidFill>
          <a:ln cap="flat" cmpd="sng" w="12700">
            <a:solidFill>
              <a:srgbClr val="00C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292608" y="126187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822960" y="960120"/>
            <a:ext cx="35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C8FF"/>
                </a:solidFill>
                <a:latin typeface="Calibri"/>
                <a:ea typeface="Calibri"/>
                <a:cs typeface="Calibri"/>
                <a:sym typeface="Calibri"/>
              </a:rPr>
              <a:t>Arrancar 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822960" y="1261872"/>
            <a:ext cx="352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docker compose up --build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22960" y="1737360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Construye imágenes y lanza los 14 contenedores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82880" y="2258568"/>
            <a:ext cx="4297800" cy="12345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292608" y="2606040"/>
            <a:ext cx="411600" cy="411600"/>
          </a:xfrm>
          <a:prstGeom prst="ellipse">
            <a:avLst/>
          </a:prstGeom>
          <a:solidFill>
            <a:srgbClr val="00D68F"/>
          </a:solidFill>
          <a:ln cap="flat" cmpd="sng" w="12700">
            <a:solidFill>
              <a:srgbClr val="00D6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292608" y="26060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22960" y="2304288"/>
            <a:ext cx="35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68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D68F"/>
                </a:solidFill>
                <a:latin typeface="Calibri"/>
                <a:ea typeface="Calibri"/>
                <a:cs typeface="Calibri"/>
                <a:sym typeface="Calibri"/>
              </a:rPr>
              <a:t>Abrir el panel web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22960" y="2606040"/>
            <a:ext cx="352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http://localhost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22960" y="3081528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Ver turbinas en tiempo real, gráfico de potencia y log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182880" y="3602736"/>
            <a:ext cx="4297800" cy="12345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292608" y="3950208"/>
            <a:ext cx="411600" cy="411600"/>
          </a:xfrm>
          <a:prstGeom prst="ellipse">
            <a:avLst/>
          </a:prstGeom>
          <a:solidFill>
            <a:srgbClr val="FFD740"/>
          </a:solidFill>
          <a:ln cap="flat" cmpd="sng" w="12700">
            <a:solidFill>
              <a:srgbClr val="FFD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292608" y="395020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22960" y="3648456"/>
            <a:ext cx="35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4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D740"/>
                </a:solidFill>
                <a:latin typeface="Calibri"/>
                <a:ea typeface="Calibri"/>
                <a:cs typeface="Calibri"/>
                <a:sym typeface="Calibri"/>
              </a:rPr>
              <a:t>Ver FastAPI Docs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822960" y="3950208"/>
            <a:ext cx="352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http://localhost:8000/docs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22960" y="4425696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Probar endpoints manualmente, enviar datos de prueba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663440" y="914400"/>
            <a:ext cx="4297800" cy="12345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773168" y="1261872"/>
            <a:ext cx="411600" cy="411600"/>
          </a:xfrm>
          <a:prstGeom prst="ellipse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773168" y="126187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303520" y="960120"/>
            <a:ext cx="35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Demostrar rechazo sin API Key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303520" y="1261872"/>
            <a:ext cx="352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curl -X POST http://localhost:8000/datos \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  -H "Content-Type: application/json" \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  -d '{"turbina_id":"intruso",...}'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5303520" y="1737360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→  401 Unauthorized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663440" y="2258568"/>
            <a:ext cx="4297800" cy="1234500"/>
          </a:xfrm>
          <a:prstGeom prst="rect">
            <a:avLst/>
          </a:prstGeom>
          <a:solidFill>
            <a:srgbClr val="05294A"/>
          </a:solidFill>
          <a:ln cap="flat" cmpd="sng" w="1015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773168" y="2606040"/>
            <a:ext cx="411600" cy="411600"/>
          </a:xfrm>
          <a:prstGeom prst="ellipse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773168" y="26060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4101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303520" y="2304288"/>
            <a:ext cx="3520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Consultar PostgreSQL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303520" y="2606040"/>
            <a:ext cx="352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FF"/>
              </a:buClr>
              <a:buSzPts val="850"/>
              <a:buFont typeface="Consolas"/>
              <a:buNone/>
            </a:pPr>
            <a:r>
              <a:rPr lang="en-US" sz="850">
                <a:solidFill>
                  <a:srgbClr val="00C8FF"/>
                </a:solidFill>
                <a:latin typeface="Consolas"/>
                <a:ea typeface="Consolas"/>
                <a:cs typeface="Consolas"/>
                <a:sym typeface="Consolas"/>
              </a:rPr>
              <a:t>docker exec -it base_datos psql -U deusto -d parque_eolico_db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303520" y="3081528"/>
            <a:ext cx="3520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C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7BAFC8"/>
                </a:solidFill>
                <a:latin typeface="Calibri"/>
                <a:ea typeface="Calibri"/>
                <a:cs typeface="Calibri"/>
                <a:sym typeface="Calibri"/>
              </a:rPr>
              <a:t>SELECT turbina_id, COUNT(*) FROM rechazados GROUP BY 1;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2026-03-25T08:58:10Z</dcterms:created>
  <dc:creator>PptxGenJS</dc:creator>
</cp:coreProperties>
</file>